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2" r:id="rId6"/>
    <p:sldId id="265" r:id="rId7"/>
    <p:sldId id="263" r:id="rId8"/>
    <p:sldId id="266" r:id="rId9"/>
    <p:sldId id="267" r:id="rId10"/>
    <p:sldId id="260" r:id="rId11"/>
    <p:sldId id="268" r:id="rId12"/>
    <p:sldId id="269" r:id="rId13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45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4AB4C1-A99D-4963-B9A4-C07A6FA181F8}" type="datetimeFigureOut">
              <a:rPr lang="ru-RU" smtClean="0"/>
              <a:t>03.10.2025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061748-1F43-48E0-9266-3E331F0ABBC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335157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4AB4C1-A99D-4963-B9A4-C07A6FA181F8}" type="datetimeFigureOut">
              <a:rPr lang="ru-RU" smtClean="0"/>
              <a:t>03.10.2025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061748-1F43-48E0-9266-3E331F0ABBC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689073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4AB4C1-A99D-4963-B9A4-C07A6FA181F8}" type="datetimeFigureOut">
              <a:rPr lang="ru-RU" smtClean="0"/>
              <a:t>03.10.2025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061748-1F43-48E0-9266-3E331F0ABBC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469140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4AB4C1-A99D-4963-B9A4-C07A6FA181F8}" type="datetimeFigureOut">
              <a:rPr lang="ru-RU" smtClean="0"/>
              <a:t>03.10.2025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061748-1F43-48E0-9266-3E331F0ABBC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05400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4AB4C1-A99D-4963-B9A4-C07A6FA181F8}" type="datetimeFigureOut">
              <a:rPr lang="ru-RU" smtClean="0"/>
              <a:t>03.10.2025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061748-1F43-48E0-9266-3E331F0ABBC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437976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4AB4C1-A99D-4963-B9A4-C07A6FA181F8}" type="datetimeFigureOut">
              <a:rPr lang="ru-RU" smtClean="0"/>
              <a:t>03.10.2025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061748-1F43-48E0-9266-3E331F0ABBC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329132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4AB4C1-A99D-4963-B9A4-C07A6FA181F8}" type="datetimeFigureOut">
              <a:rPr lang="ru-RU" smtClean="0"/>
              <a:t>03.10.2025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061748-1F43-48E0-9266-3E331F0ABBC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127836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4AB4C1-A99D-4963-B9A4-C07A6FA181F8}" type="datetimeFigureOut">
              <a:rPr lang="ru-RU" smtClean="0"/>
              <a:t>03.10.2025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061748-1F43-48E0-9266-3E331F0ABBC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336985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4AB4C1-A99D-4963-B9A4-C07A6FA181F8}" type="datetimeFigureOut">
              <a:rPr lang="ru-RU" smtClean="0"/>
              <a:t>03.10.2025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061748-1F43-48E0-9266-3E331F0ABBC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108758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4AB4C1-A99D-4963-B9A4-C07A6FA181F8}" type="datetimeFigureOut">
              <a:rPr lang="ru-RU" smtClean="0"/>
              <a:t>03.10.2025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061748-1F43-48E0-9266-3E331F0ABBC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778882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4AB4C1-A99D-4963-B9A4-C07A6FA181F8}" type="datetimeFigureOut">
              <a:rPr lang="ru-RU" smtClean="0"/>
              <a:t>03.10.2025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061748-1F43-48E0-9266-3E331F0ABBC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88888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24AB4C1-A99D-4963-B9A4-C07A6FA181F8}" type="datetimeFigureOut">
              <a:rPr lang="ru-RU" smtClean="0"/>
              <a:t>03.10.2025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061748-1F43-48E0-9266-3E331F0ABBC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371508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446363" y="1545057"/>
            <a:ext cx="9144000" cy="2387600"/>
          </a:xfrm>
        </p:spPr>
        <p:txBody>
          <a:bodyPr/>
          <a:lstStyle/>
          <a:p>
            <a:r>
              <a:rPr lang="ru-RU" b="1" dirty="0" smtClean="0">
                <a:latin typeface="Bahnschrift SemiBold" panose="020B0502040204020203" pitchFamily="34" charset="0"/>
              </a:rPr>
              <a:t>Библиотека </a:t>
            </a:r>
            <a:r>
              <a:rPr lang="en-US" b="1" dirty="0" smtClean="0">
                <a:latin typeface="Bahnschrift SemiBold" panose="020B0502040204020203" pitchFamily="34" charset="0"/>
              </a:rPr>
              <a:t>React</a:t>
            </a:r>
            <a:endParaRPr lang="ru-RU" b="1" dirty="0">
              <a:latin typeface="Bahnschrift SemiBold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739830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>
                <a:latin typeface="Bahnschrift SemiBold" panose="020B0502040204020203" pitchFamily="34" charset="0"/>
              </a:rPr>
              <a:t>1. Что такое </a:t>
            </a:r>
            <a:r>
              <a:rPr lang="en-US" dirty="0" smtClean="0">
                <a:latin typeface="Bahnschrift SemiBold" panose="020B0502040204020203" pitchFamily="34" charset="0"/>
              </a:rPr>
              <a:t>React</a:t>
            </a:r>
            <a:endParaRPr lang="ru-RU" dirty="0">
              <a:latin typeface="Bahnschrift SemiBold" panose="020B0502040204020203" pitchFamily="34" charset="0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sz="3000" dirty="0" err="1">
                <a:latin typeface="Bahnschrift SemiCondensed" panose="020B0502040204020203" pitchFamily="34" charset="0"/>
              </a:rPr>
              <a:t>React</a:t>
            </a:r>
            <a:r>
              <a:rPr lang="ru-RU" sz="3000" dirty="0">
                <a:latin typeface="Bahnschrift SemiCondensed" panose="020B0502040204020203" pitchFamily="34" charset="0"/>
              </a:rPr>
              <a:t> — это </a:t>
            </a:r>
            <a:r>
              <a:rPr lang="ru-RU" sz="3000" dirty="0" err="1">
                <a:latin typeface="Bahnschrift SemiCondensed" panose="020B0502040204020203" pitchFamily="34" charset="0"/>
              </a:rPr>
              <a:t>JavaScript</a:t>
            </a:r>
            <a:r>
              <a:rPr lang="ru-RU" sz="3000" dirty="0">
                <a:latin typeface="Bahnschrift SemiCondensed" panose="020B0502040204020203" pitchFamily="34" charset="0"/>
              </a:rPr>
              <a:t> библиотека для построения пользовательских интерфейсов. Создан </a:t>
            </a:r>
            <a:r>
              <a:rPr lang="ru-RU" sz="3000" dirty="0" smtClean="0">
                <a:latin typeface="Bahnschrift SemiCondensed" panose="020B0502040204020203" pitchFamily="34" charset="0"/>
              </a:rPr>
              <a:t>компанией </a:t>
            </a:r>
            <a:r>
              <a:rPr lang="en-US" sz="3000" dirty="0" smtClean="0">
                <a:latin typeface="Bahnschrift SemiCondensed" panose="020B0502040204020203" pitchFamily="34" charset="0"/>
              </a:rPr>
              <a:t>Facebook</a:t>
            </a:r>
            <a:r>
              <a:rPr lang="ru-RU" sz="3000" dirty="0" smtClean="0">
                <a:latin typeface="Bahnschrift SemiCondensed" panose="020B0502040204020203" pitchFamily="34" charset="0"/>
              </a:rPr>
              <a:t> и впервые выпущена </a:t>
            </a:r>
            <a:r>
              <a:rPr lang="ru-RU" sz="3000" dirty="0">
                <a:latin typeface="Bahnschrift SemiCondensed" panose="020B0502040204020203" pitchFamily="34" charset="0"/>
              </a:rPr>
              <a:t>в 2013 году. </a:t>
            </a:r>
            <a:endParaRPr lang="ru-RU" sz="3000" dirty="0" smtClean="0">
              <a:latin typeface="Bahnschrift SemiCondensed" panose="020B0502040204020203" pitchFamily="34" charset="0"/>
            </a:endParaRPr>
          </a:p>
          <a:p>
            <a:r>
              <a:rPr lang="ru-RU" sz="3000" dirty="0" smtClean="0">
                <a:latin typeface="Bahnschrift SemiCondensed" panose="020B0502040204020203" pitchFamily="34" charset="0"/>
              </a:rPr>
              <a:t>Основное </a:t>
            </a:r>
            <a:r>
              <a:rPr lang="ru-RU" sz="3000" dirty="0">
                <a:latin typeface="Bahnschrift SemiCondensed" panose="020B0502040204020203" pitchFamily="34" charset="0"/>
              </a:rPr>
              <a:t>назначение — создание интерактивных веб-приложений с минимальной затратой ресурсов и высокой производительностью.</a:t>
            </a:r>
          </a:p>
        </p:txBody>
      </p:sp>
    </p:spTree>
    <p:extLst>
      <p:ext uri="{BB962C8B-B14F-4D97-AF65-F5344CB8AC3E}">
        <p14:creationId xmlns:p14="http://schemas.microsoft.com/office/powerpoint/2010/main" val="41807689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>
                <a:latin typeface="Bahnschrift SemiBold" panose="020B0502040204020203" pitchFamily="34" charset="0"/>
              </a:rPr>
              <a:t>2. Преимущества </a:t>
            </a:r>
            <a:r>
              <a:rPr lang="en-US" dirty="0" smtClean="0">
                <a:latin typeface="Bahnschrift SemiBold" panose="020B0502040204020203" pitchFamily="34" charset="0"/>
              </a:rPr>
              <a:t>React</a:t>
            </a:r>
            <a:endParaRPr lang="ru-RU" dirty="0">
              <a:latin typeface="Bahnschrift SemiBold" panose="020B0502040204020203" pitchFamily="34" charset="0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sz="3000" dirty="0" smtClean="0">
                <a:latin typeface="Bahnschrift SemiCondensed" panose="020B0502040204020203" pitchFamily="34" charset="0"/>
              </a:rPr>
              <a:t>Высокая производительность</a:t>
            </a:r>
          </a:p>
          <a:p>
            <a:r>
              <a:rPr lang="ru-RU" sz="3000" dirty="0" smtClean="0">
                <a:latin typeface="Bahnschrift SemiCondensed" panose="020B0502040204020203" pitchFamily="34" charset="0"/>
              </a:rPr>
              <a:t>Модульность и компонентный подход</a:t>
            </a:r>
          </a:p>
          <a:p>
            <a:r>
              <a:rPr lang="ru-RU" sz="3000" dirty="0" smtClean="0">
                <a:latin typeface="Bahnschrift SemiCondensed" panose="020B0502040204020203" pitchFamily="34" charset="0"/>
              </a:rPr>
              <a:t>Простота изучения и использования</a:t>
            </a:r>
          </a:p>
          <a:p>
            <a:r>
              <a:rPr lang="ru-RU" sz="3000" dirty="0" smtClean="0">
                <a:latin typeface="Bahnschrift SemiCondensed" panose="020B0502040204020203" pitchFamily="34" charset="0"/>
              </a:rPr>
              <a:t>Большое количество готовых решений</a:t>
            </a:r>
            <a:endParaRPr lang="ru-RU" sz="3000" dirty="0">
              <a:latin typeface="Bahnschrift SemiCondensed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170311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>
                <a:latin typeface="Bahnschrift SemiBold" panose="020B0502040204020203" pitchFamily="34" charset="0"/>
              </a:rPr>
              <a:t>3. Основные концепции </a:t>
            </a:r>
            <a:r>
              <a:rPr lang="en-US" dirty="0" smtClean="0">
                <a:latin typeface="Bahnschrift SemiBold" panose="020B0502040204020203" pitchFamily="34" charset="0"/>
              </a:rPr>
              <a:t>React</a:t>
            </a:r>
            <a:endParaRPr lang="ru-RU" dirty="0">
              <a:latin typeface="Bahnschrift SemiBold" panose="020B0502040204020203" pitchFamily="34" charset="0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38200" y="1690688"/>
            <a:ext cx="10643558" cy="4351338"/>
          </a:xfrm>
        </p:spPr>
        <p:txBody>
          <a:bodyPr>
            <a:normAutofit/>
          </a:bodyPr>
          <a:lstStyle/>
          <a:p>
            <a:pPr marL="180000"/>
            <a:r>
              <a:rPr lang="ru-RU" sz="3000" b="1" dirty="0" smtClean="0">
                <a:solidFill>
                  <a:schemeClr val="accent1">
                    <a:lumMod val="50000"/>
                  </a:schemeClr>
                </a:solidFill>
                <a:latin typeface="Bahnschrift SemiCondensed" panose="020B0502040204020203" pitchFamily="34" charset="0"/>
              </a:rPr>
              <a:t>Компоненты</a:t>
            </a:r>
            <a:r>
              <a:rPr lang="ru-RU" sz="3000" dirty="0" smtClean="0">
                <a:latin typeface="Bahnschrift SemiCondensed" panose="020B0502040204020203" pitchFamily="34" charset="0"/>
              </a:rPr>
              <a:t> </a:t>
            </a:r>
            <a:r>
              <a:rPr lang="ru-RU" sz="3000" dirty="0" smtClean="0">
                <a:latin typeface="Bahnschrift SemiCondensed" panose="020B0502040204020203" pitchFamily="34" charset="0"/>
              </a:rPr>
              <a:t>— эт</a:t>
            </a:r>
            <a:r>
              <a:rPr lang="ru-RU" sz="3000" dirty="0" smtClean="0">
                <a:latin typeface="Bahnschrift SemiCondensed" panose="020B0502040204020203" pitchFamily="34" charset="0"/>
              </a:rPr>
              <a:t>о фундаментальные блоки интерфейса. Каждый компонент представляет собой отдельную изолированную часть пользовательского интерфейса, которая выполняет отдельную задачу</a:t>
            </a:r>
          </a:p>
          <a:p>
            <a:pPr marL="180000"/>
            <a:r>
              <a:rPr lang="ru-RU" sz="3000" dirty="0" smtClean="0">
                <a:solidFill>
                  <a:schemeClr val="accent5">
                    <a:lumMod val="50000"/>
                  </a:schemeClr>
                </a:solidFill>
                <a:latin typeface="Bahnschrift SemiCondensed" panose="020B0502040204020203" pitchFamily="34" charset="0"/>
              </a:rPr>
              <a:t>Типы компонентов:</a:t>
            </a:r>
          </a:p>
          <a:p>
            <a:pPr marL="637200" lvl="1"/>
            <a:r>
              <a:rPr lang="ru-RU" sz="2600" dirty="0" smtClean="0">
                <a:latin typeface="Bahnschrift SemiCondensed" panose="020B0502040204020203" pitchFamily="34" charset="0"/>
              </a:rPr>
              <a:t>Функциональные компоненты</a:t>
            </a:r>
          </a:p>
          <a:p>
            <a:pPr marL="637200" lvl="1"/>
            <a:r>
              <a:rPr lang="ru-RU" sz="2600" dirty="0" smtClean="0">
                <a:latin typeface="Bahnschrift SemiCondensed" panose="020B0502040204020203" pitchFamily="34" charset="0"/>
              </a:rPr>
              <a:t>Классовые компоненты</a:t>
            </a:r>
            <a:endParaRPr lang="en-US" sz="2600" dirty="0" smtClean="0">
              <a:latin typeface="Bahnschrift SemiCondensed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830828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>
                <a:latin typeface="Bahnschrift SemiBold" panose="020B0502040204020203" pitchFamily="34" charset="0"/>
              </a:rPr>
              <a:t>Функциональные компоненты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sz="3000" dirty="0" smtClean="0">
                <a:latin typeface="Bahnschrift SemiCondensed" panose="020B0502040204020203" pitchFamily="34" charset="0"/>
              </a:rPr>
              <a:t>Проще говоря функции, которые возвращают элемент интерфейса</a:t>
            </a:r>
          </a:p>
          <a:p>
            <a:r>
              <a:rPr lang="ru-RU" sz="3000" dirty="0" smtClean="0">
                <a:solidFill>
                  <a:schemeClr val="accent5">
                    <a:lumMod val="50000"/>
                  </a:schemeClr>
                </a:solidFill>
                <a:latin typeface="Bahnschrift SemiCondensed" panose="020B0502040204020203" pitchFamily="34" charset="0"/>
              </a:rPr>
              <a:t>Пример:</a:t>
            </a:r>
          </a:p>
          <a:p>
            <a:endParaRPr lang="ru-RU" sz="3000" dirty="0">
              <a:solidFill>
                <a:schemeClr val="accent5">
                  <a:lumMod val="50000"/>
                </a:schemeClr>
              </a:solidFill>
              <a:latin typeface="Bahnschrift SemiCondensed" panose="020B0502040204020203" pitchFamily="34" charset="0"/>
            </a:endParaRP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3404573"/>
            <a:ext cx="3305636" cy="1562318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6550" y="3404573"/>
            <a:ext cx="3172268" cy="27340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68161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>
                <a:latin typeface="Bahnschrift SemiBold" panose="020B0502040204020203" pitchFamily="34" charset="0"/>
              </a:rPr>
              <a:t>Классовые компоненты</a:t>
            </a:r>
            <a:endParaRPr lang="ru-RU" dirty="0">
              <a:latin typeface="Bahnschrift SemiBold" panose="020B0502040204020203" pitchFamily="34" charset="0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38199" y="1825625"/>
            <a:ext cx="10729823" cy="4351338"/>
          </a:xfrm>
        </p:spPr>
        <p:txBody>
          <a:bodyPr>
            <a:normAutofit/>
          </a:bodyPr>
          <a:lstStyle/>
          <a:p>
            <a:r>
              <a:rPr lang="ru-RU" sz="3000" dirty="0" smtClean="0">
                <a:latin typeface="Bahnschrift SemiCondensed" panose="020B0502040204020203" pitchFamily="34" charset="0"/>
              </a:rPr>
              <a:t>Это класс, который наследует от базового класса </a:t>
            </a:r>
            <a:r>
              <a:rPr lang="en-US" sz="3000" dirty="0" err="1" smtClean="0">
                <a:solidFill>
                  <a:schemeClr val="accent6">
                    <a:lumMod val="50000"/>
                  </a:schemeClr>
                </a:solidFill>
                <a:latin typeface="Bahnschrift SemiCondensed" panose="020B0502040204020203" pitchFamily="34" charset="0"/>
              </a:rPr>
              <a:t>React.Component</a:t>
            </a:r>
            <a:endParaRPr lang="en-US" sz="3000" dirty="0" smtClean="0">
              <a:solidFill>
                <a:schemeClr val="accent6">
                  <a:lumMod val="50000"/>
                </a:schemeClr>
              </a:solidFill>
              <a:latin typeface="Bahnschrift SemiCondensed" panose="020B0502040204020203" pitchFamily="34" charset="0"/>
            </a:endParaRPr>
          </a:p>
          <a:p>
            <a:r>
              <a:rPr lang="ru-RU" sz="3000" dirty="0" smtClean="0">
                <a:solidFill>
                  <a:schemeClr val="accent1">
                    <a:lumMod val="50000"/>
                  </a:schemeClr>
                </a:solidFill>
                <a:latin typeface="Bahnschrift SemiCondensed" panose="020B0502040204020203" pitchFamily="34" charset="0"/>
              </a:rPr>
              <a:t>Пример:</a:t>
            </a:r>
            <a:endParaRPr lang="ru-RU" sz="3000" dirty="0">
              <a:solidFill>
                <a:schemeClr val="accent1">
                  <a:lumMod val="50000"/>
                </a:schemeClr>
              </a:solidFill>
              <a:latin typeface="Bahnschrift SemiCondensed" panose="020B0502040204020203" pitchFamily="34" charset="0"/>
            </a:endParaRP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199" y="3062481"/>
            <a:ext cx="3753374" cy="2372056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65820" y="3062481"/>
            <a:ext cx="3181794" cy="28388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2463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>
                <a:latin typeface="Bahnschrift SemiBold" panose="020B0502040204020203" pitchFamily="34" charset="0"/>
              </a:rPr>
              <a:t>3. Основные концепции </a:t>
            </a:r>
            <a:r>
              <a:rPr lang="en-US" dirty="0" smtClean="0">
                <a:latin typeface="Bahnschrift SemiBold" panose="020B0502040204020203" pitchFamily="34" charset="0"/>
              </a:rPr>
              <a:t>React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180000">
              <a:spcBef>
                <a:spcPts val="1500"/>
              </a:spcBef>
            </a:pPr>
            <a:r>
              <a:rPr lang="en-US" b="1" dirty="0">
                <a:solidFill>
                  <a:schemeClr val="accent5">
                    <a:lumMod val="50000"/>
                  </a:schemeClr>
                </a:solidFill>
                <a:latin typeface="Bahnschrift SemiCondensed" panose="020B0502040204020203" pitchFamily="34" charset="0"/>
              </a:rPr>
              <a:t>DOM (Document Object Model) </a:t>
            </a:r>
            <a:r>
              <a:rPr lang="ru-RU" dirty="0">
                <a:latin typeface="Bahnschrift SemiCondensed" panose="020B0502040204020203" pitchFamily="34" charset="0"/>
              </a:rPr>
              <a:t>—</a:t>
            </a:r>
            <a:r>
              <a:rPr lang="en-US" dirty="0">
                <a:latin typeface="Bahnschrift SemiCondensed" panose="020B0502040204020203" pitchFamily="34" charset="0"/>
              </a:rPr>
              <a:t> </a:t>
            </a:r>
            <a:r>
              <a:rPr lang="ru-RU" dirty="0">
                <a:latin typeface="Bahnschrift SemiCondensed" panose="020B0502040204020203" pitchFamily="34" charset="0"/>
              </a:rPr>
              <a:t>это способ представления структурного документа с помощью объектов. Пример:  </a:t>
            </a:r>
            <a:r>
              <a:rPr lang="en-US" dirty="0">
                <a:latin typeface="Bahnschrift SemiCondensed" panose="020B0502040204020203" pitchFamily="34" charset="0"/>
              </a:rPr>
              <a:t>HTML, XML</a:t>
            </a:r>
            <a:endParaRPr lang="ru-RU" dirty="0">
              <a:latin typeface="Bahnschrift SemiCondensed" panose="020B0502040204020203" pitchFamily="34" charset="0"/>
            </a:endParaRPr>
          </a:p>
          <a:p>
            <a:pPr marL="180000">
              <a:spcBef>
                <a:spcPts val="1500"/>
              </a:spcBef>
            </a:pPr>
            <a:r>
              <a:rPr lang="en-US" b="1" dirty="0">
                <a:solidFill>
                  <a:schemeClr val="accent5">
                    <a:lumMod val="50000"/>
                  </a:schemeClr>
                </a:solidFill>
                <a:latin typeface="Bahnschrift SemiCondensed" panose="020B0502040204020203" pitchFamily="34" charset="0"/>
              </a:rPr>
              <a:t>Virtual DOM </a:t>
            </a:r>
            <a:r>
              <a:rPr lang="ru-RU" dirty="0">
                <a:latin typeface="Bahnschrift SemiCondensed" panose="020B0502040204020203" pitchFamily="34" charset="0"/>
              </a:rPr>
              <a:t>— </a:t>
            </a:r>
            <a:r>
              <a:rPr lang="ru-RU" dirty="0" smtClean="0">
                <a:latin typeface="Bahnschrift SemiCondensed" panose="020B0502040204020203" pitchFamily="34" charset="0"/>
              </a:rPr>
              <a:t>это виртуальное представление реального DOM, созданное для повышения производительности. Оно позволяет сравнивать изменения и обновлять только те части интерфейса, которые действительно изменились.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3690594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>
                <a:latin typeface="Bahnschrift SemiBold" panose="020B0502040204020203" pitchFamily="34" charset="0"/>
              </a:rPr>
              <a:t>4. Свойства (</a:t>
            </a:r>
            <a:r>
              <a:rPr lang="en-US" dirty="0" smtClean="0">
                <a:latin typeface="Bahnschrift SemiBold" panose="020B0502040204020203" pitchFamily="34" charset="0"/>
              </a:rPr>
              <a:t>Props)</a:t>
            </a:r>
            <a:endParaRPr lang="ru-RU" dirty="0">
              <a:latin typeface="Bahnschrift SemiBold" panose="020B0502040204020203" pitchFamily="34" charset="0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sz="3000" dirty="0" smtClean="0">
                <a:latin typeface="Bahnschrift SemiCondensed" panose="020B0502040204020203" pitchFamily="34" charset="0"/>
              </a:rPr>
              <a:t>Пропсы – это данные, передаваемые от родительского компонента к дочерним. Это способ задать параметры для компонента. Все передается к дочерним компонентам через атрибут – </a:t>
            </a:r>
            <a:r>
              <a:rPr lang="en-US" sz="3000" dirty="0" smtClean="0">
                <a:solidFill>
                  <a:schemeClr val="accent5">
                    <a:lumMod val="50000"/>
                  </a:schemeClr>
                </a:solidFill>
                <a:latin typeface="Bahnschrift SemiCondensed" panose="020B0502040204020203" pitchFamily="34" charset="0"/>
              </a:rPr>
              <a:t>props</a:t>
            </a:r>
            <a:r>
              <a:rPr lang="en-US" sz="3000" dirty="0" smtClean="0">
                <a:latin typeface="Bahnschrift SemiCondensed" panose="020B0502040204020203" pitchFamily="34" charset="0"/>
              </a:rPr>
              <a:t>.</a:t>
            </a:r>
            <a:endParaRPr lang="ru-RU" sz="3000" dirty="0">
              <a:latin typeface="Bahnschrift SemiCondensed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710958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>
                <a:latin typeface="Bahnschrift SemiBold" panose="020B0502040204020203" pitchFamily="34" charset="0"/>
              </a:rPr>
              <a:t>5. Состояние </a:t>
            </a:r>
            <a:r>
              <a:rPr lang="en-US" dirty="0" smtClean="0">
                <a:latin typeface="Bahnschrift SemiBold" panose="020B0502040204020203" pitchFamily="34" charset="0"/>
              </a:rPr>
              <a:t>(State)</a:t>
            </a:r>
            <a:endParaRPr lang="ru-RU" dirty="0">
              <a:latin typeface="Bahnschrift SemiBold" panose="020B0502040204020203" pitchFamily="34" charset="0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000" dirty="0" smtClean="0">
                <a:latin typeface="Bahnschrift SemiCondensed" panose="020B0502040204020203" pitchFamily="34" charset="0"/>
              </a:rPr>
              <a:t>State – </a:t>
            </a:r>
            <a:r>
              <a:rPr lang="ru-RU" sz="3000" dirty="0" smtClean="0">
                <a:latin typeface="Bahnschrift SemiCondensed" panose="020B0502040204020203" pitchFamily="34" charset="0"/>
              </a:rPr>
              <a:t>это локальные данные компонента, которые влияют на его внешний вид и поведение. В случае если состояние изменится, то </a:t>
            </a:r>
            <a:r>
              <a:rPr lang="en-US" sz="3000" dirty="0" smtClean="0">
                <a:latin typeface="Bahnschrift SemiCondensed" panose="020B0502040204020203" pitchFamily="34" charset="0"/>
              </a:rPr>
              <a:t>React </a:t>
            </a:r>
            <a:r>
              <a:rPr lang="ru-RU" sz="3000" dirty="0" smtClean="0">
                <a:latin typeface="Bahnschrift SemiCondensed" panose="020B0502040204020203" pitchFamily="34" charset="0"/>
              </a:rPr>
              <a:t>обновит компонент. В данном случае работа с </a:t>
            </a:r>
            <a:r>
              <a:rPr lang="en-US" sz="3000" dirty="0" smtClean="0">
                <a:latin typeface="Bahnschrift SemiCondensed" panose="020B0502040204020203" pitchFamily="34" charset="0"/>
              </a:rPr>
              <a:t>State </a:t>
            </a:r>
            <a:r>
              <a:rPr lang="ru-RU" sz="3000" dirty="0" smtClean="0">
                <a:latin typeface="Bahnschrift SemiCondensed" panose="020B0502040204020203" pitchFamily="34" charset="0"/>
              </a:rPr>
              <a:t>происходит через атрибут </a:t>
            </a:r>
            <a:r>
              <a:rPr lang="en-US" sz="3000" dirty="0" err="1" smtClean="0">
                <a:solidFill>
                  <a:schemeClr val="accent5">
                    <a:lumMod val="50000"/>
                  </a:schemeClr>
                </a:solidFill>
                <a:latin typeface="Bahnschrift SemiCondensed" panose="020B0502040204020203" pitchFamily="34" charset="0"/>
              </a:rPr>
              <a:t>useState</a:t>
            </a:r>
            <a:r>
              <a:rPr lang="ru-RU" sz="3000" dirty="0" smtClean="0">
                <a:latin typeface="Bahnschrift SemiCondensed" panose="020B0502040204020203" pitchFamily="34" charset="0"/>
              </a:rPr>
              <a:t>.</a:t>
            </a:r>
            <a:endParaRPr lang="ru-RU" sz="3000" dirty="0">
              <a:latin typeface="Bahnschrift SemiCondensed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101773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>
                <a:latin typeface="Bahnschrift SemiBold" panose="020B0502040204020203" pitchFamily="34" charset="0"/>
              </a:rPr>
              <a:t>6</a:t>
            </a:r>
            <a:r>
              <a:rPr lang="en-US" dirty="0" smtClean="0">
                <a:latin typeface="Bahnschrift SemiBold" panose="020B0502040204020203" pitchFamily="34" charset="0"/>
              </a:rPr>
              <a:t>. </a:t>
            </a:r>
            <a:r>
              <a:rPr lang="ru-RU" dirty="0" smtClean="0">
                <a:latin typeface="Bahnschrift SemiBold" panose="020B0502040204020203" pitchFamily="34" charset="0"/>
              </a:rPr>
              <a:t>Создание проекта</a:t>
            </a:r>
            <a:endParaRPr lang="ru-RU" dirty="0">
              <a:latin typeface="Bahnschrift SemiBold" panose="020B0502040204020203" pitchFamily="34" charset="0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000" dirty="0" err="1" smtClean="0">
                <a:solidFill>
                  <a:schemeClr val="accent6">
                    <a:lumMod val="50000"/>
                  </a:schemeClr>
                </a:solidFill>
                <a:latin typeface="Bahnschrift SemiCondensed" panose="020B0502040204020203" pitchFamily="34" charset="0"/>
              </a:rPr>
              <a:t>npm</a:t>
            </a:r>
            <a:r>
              <a:rPr lang="en-US" sz="3000" dirty="0" smtClean="0">
                <a:solidFill>
                  <a:schemeClr val="accent6">
                    <a:lumMod val="50000"/>
                  </a:schemeClr>
                </a:solidFill>
                <a:latin typeface="Bahnschrift SemiCondensed" panose="020B0502040204020203" pitchFamily="34" charset="0"/>
              </a:rPr>
              <a:t> install –g create-react-app </a:t>
            </a:r>
            <a:r>
              <a:rPr lang="ru-RU" sz="3000" dirty="0" smtClean="0">
                <a:latin typeface="Bahnschrift SemiCondensed" panose="020B0502040204020203" pitchFamily="34" charset="0"/>
              </a:rPr>
              <a:t>—</a:t>
            </a:r>
            <a:r>
              <a:rPr lang="en-US" sz="3000" dirty="0" smtClean="0">
                <a:latin typeface="Bahnschrift SemiCondensed" panose="020B0502040204020203" pitchFamily="34" charset="0"/>
              </a:rPr>
              <a:t> </a:t>
            </a:r>
            <a:r>
              <a:rPr lang="ru-RU" sz="3000" dirty="0" smtClean="0">
                <a:latin typeface="Bahnschrift SemiCondensed" panose="020B0502040204020203" pitchFamily="34" charset="0"/>
              </a:rPr>
              <a:t>Установка пакета </a:t>
            </a:r>
            <a:r>
              <a:rPr lang="en-US" sz="3000" dirty="0" smtClean="0">
                <a:latin typeface="Bahnschrift SemiCondensed" panose="020B0502040204020203" pitchFamily="34" charset="0"/>
              </a:rPr>
              <a:t>Create React App</a:t>
            </a:r>
            <a:r>
              <a:rPr lang="ru-RU" sz="3000" dirty="0" smtClean="0">
                <a:latin typeface="Bahnschrift SemiCondensed" panose="020B0502040204020203" pitchFamily="34" charset="0"/>
              </a:rPr>
              <a:t> для начала работы с </a:t>
            </a:r>
            <a:r>
              <a:rPr lang="en-US" sz="3000" dirty="0" smtClean="0">
                <a:latin typeface="Bahnschrift SemiCondensed" panose="020B0502040204020203" pitchFamily="34" charset="0"/>
              </a:rPr>
              <a:t>React</a:t>
            </a:r>
            <a:r>
              <a:rPr lang="ru-RU" sz="3000" dirty="0" smtClean="0">
                <a:latin typeface="Bahnschrift SemiCondensed" panose="020B0502040204020203" pitchFamily="34" charset="0"/>
              </a:rPr>
              <a:t>.</a:t>
            </a:r>
            <a:endParaRPr lang="en-US" sz="3000" dirty="0" smtClean="0">
              <a:latin typeface="Bahnschrift SemiCondensed" panose="020B0502040204020203" pitchFamily="34" charset="0"/>
            </a:endParaRPr>
          </a:p>
          <a:p>
            <a:r>
              <a:rPr lang="en-US" sz="3000" dirty="0" smtClean="0">
                <a:solidFill>
                  <a:schemeClr val="accent6">
                    <a:lumMod val="50000"/>
                  </a:schemeClr>
                </a:solidFill>
                <a:latin typeface="Bahnschrift SemiCondensed" panose="020B0502040204020203" pitchFamily="34" charset="0"/>
              </a:rPr>
              <a:t>create-react-app my-first-project </a:t>
            </a:r>
            <a:r>
              <a:rPr lang="ru-RU" sz="3000" dirty="0" smtClean="0">
                <a:latin typeface="Bahnschrift SemiCondensed" panose="020B0502040204020203" pitchFamily="34" charset="0"/>
              </a:rPr>
              <a:t>—</a:t>
            </a:r>
            <a:r>
              <a:rPr lang="en-US" sz="3000" dirty="0" smtClean="0">
                <a:latin typeface="Bahnschrift SemiCondensed" panose="020B0502040204020203" pitchFamily="34" charset="0"/>
              </a:rPr>
              <a:t> </a:t>
            </a:r>
            <a:r>
              <a:rPr lang="ru-RU" sz="3000" dirty="0" smtClean="0">
                <a:latin typeface="Bahnschrift SemiCondensed" panose="020B0502040204020203" pitchFamily="34" charset="0"/>
              </a:rPr>
              <a:t>Создание проекта со всеми зависимостями.</a:t>
            </a:r>
            <a:endParaRPr lang="en-US" sz="3000" dirty="0">
              <a:latin typeface="Bahnschrift SemiCondensed" panose="020B0502040204020203" pitchFamily="34" charset="0"/>
            </a:endParaRPr>
          </a:p>
          <a:p>
            <a:r>
              <a:rPr lang="en-US" sz="3000" dirty="0" smtClean="0">
                <a:solidFill>
                  <a:schemeClr val="accent6">
                    <a:lumMod val="50000"/>
                  </a:schemeClr>
                </a:solidFill>
                <a:latin typeface="Bahnschrift SemiCondensed" panose="020B0502040204020203" pitchFamily="34" charset="0"/>
              </a:rPr>
              <a:t>cd my-first-project</a:t>
            </a:r>
            <a:endParaRPr lang="ru-RU" sz="3000" dirty="0" smtClean="0">
              <a:solidFill>
                <a:schemeClr val="accent6">
                  <a:lumMod val="50000"/>
                </a:schemeClr>
              </a:solidFill>
              <a:latin typeface="Bahnschrift SemiCondensed" panose="020B0502040204020203" pitchFamily="34" charset="0"/>
            </a:endParaRPr>
          </a:p>
          <a:p>
            <a:r>
              <a:rPr lang="en-US" sz="3000" dirty="0" err="1" smtClean="0">
                <a:solidFill>
                  <a:schemeClr val="accent6">
                    <a:lumMod val="50000"/>
                  </a:schemeClr>
                </a:solidFill>
                <a:latin typeface="Bahnschrift SemiCondensed" panose="020B0502040204020203" pitchFamily="34" charset="0"/>
              </a:rPr>
              <a:t>npm</a:t>
            </a:r>
            <a:r>
              <a:rPr lang="en-US" sz="3000" dirty="0" smtClean="0">
                <a:solidFill>
                  <a:schemeClr val="accent6">
                    <a:lumMod val="50000"/>
                  </a:schemeClr>
                </a:solidFill>
                <a:latin typeface="Bahnschrift SemiCondensed" panose="020B0502040204020203" pitchFamily="34" charset="0"/>
              </a:rPr>
              <a:t> start </a:t>
            </a:r>
            <a:r>
              <a:rPr lang="ru-RU" sz="3000" dirty="0" smtClean="0">
                <a:latin typeface="Bahnschrift SemiCondensed" panose="020B0502040204020203" pitchFamily="34" charset="0"/>
              </a:rPr>
              <a:t>— Запуск приложения.</a:t>
            </a:r>
            <a:endParaRPr lang="ru-RU" sz="3000" dirty="0">
              <a:solidFill>
                <a:schemeClr val="accent6">
                  <a:lumMod val="50000"/>
                </a:schemeClr>
              </a:solidFill>
              <a:latin typeface="Bahnschrift SemiCondensed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6601028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>
                <a:latin typeface="Bahnschrift SemiBold" panose="020B0502040204020203" pitchFamily="34" charset="0"/>
              </a:rPr>
              <a:t>7. Структура проекта</a:t>
            </a:r>
            <a:endParaRPr lang="ru-RU" dirty="0">
              <a:latin typeface="Bahnschrift SemiBold" panose="020B0502040204020203" pitchFamily="34" charset="0"/>
            </a:endParaRPr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183466" y="1690688"/>
            <a:ext cx="2528530" cy="470148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38200" y="1751163"/>
            <a:ext cx="7198617" cy="3323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000" dirty="0" smtClean="0">
                <a:latin typeface="Bahnschrift SemiCondensed" panose="020B0502040204020203" pitchFamily="34" charset="0"/>
              </a:rPr>
              <a:t>Проект при создании создаёт уже готовую страницу</a:t>
            </a:r>
          </a:p>
          <a:p>
            <a:pPr marL="266700" indent="-266700">
              <a:buFont typeface="Arial" panose="020B0604020202020204" pitchFamily="34" charset="0"/>
              <a:buChar char="•"/>
            </a:pPr>
            <a:r>
              <a:rPr lang="ru-RU" sz="3000" dirty="0" smtClean="0">
                <a:latin typeface="Bahnschrift SemiCondensed" panose="020B0502040204020203" pitchFamily="34" charset="0"/>
              </a:rPr>
              <a:t>Основными из них являются:</a:t>
            </a:r>
          </a:p>
          <a:p>
            <a:pPr marL="723900" lvl="1" indent="-266700">
              <a:buFont typeface="Arial" panose="020B0604020202020204" pitchFamily="34" charset="0"/>
              <a:buChar char="•"/>
            </a:pPr>
            <a:r>
              <a:rPr lang="en-US" sz="3000" dirty="0" smtClean="0">
                <a:solidFill>
                  <a:schemeClr val="accent6">
                    <a:lumMod val="50000"/>
                  </a:schemeClr>
                </a:solidFill>
                <a:latin typeface="Bahnschrift SemiCondensed" panose="020B0502040204020203" pitchFamily="34" charset="0"/>
              </a:rPr>
              <a:t>App.js</a:t>
            </a:r>
            <a:r>
              <a:rPr lang="en-US" sz="3000" dirty="0" smtClean="0">
                <a:latin typeface="Bahnschrift SemiCondensed" panose="020B0502040204020203" pitchFamily="34" charset="0"/>
              </a:rPr>
              <a:t> </a:t>
            </a:r>
            <a:r>
              <a:rPr lang="ru-RU" sz="3000" dirty="0" smtClean="0">
                <a:latin typeface="Bahnschrift SemiCondensed" panose="020B0502040204020203" pitchFamily="34" charset="0"/>
              </a:rPr>
              <a:t>– Главный компонент приложения</a:t>
            </a:r>
          </a:p>
          <a:p>
            <a:pPr marL="723900" lvl="1" indent="-266700">
              <a:buFont typeface="Arial" panose="020B0604020202020204" pitchFamily="34" charset="0"/>
              <a:buChar char="•"/>
            </a:pPr>
            <a:r>
              <a:rPr lang="en-US" sz="3000" dirty="0" smtClean="0">
                <a:solidFill>
                  <a:schemeClr val="accent6">
                    <a:lumMod val="50000"/>
                  </a:schemeClr>
                </a:solidFill>
                <a:latin typeface="Bahnschrift SemiCondensed" panose="020B0502040204020203" pitchFamily="34" charset="0"/>
              </a:rPr>
              <a:t>App.css</a:t>
            </a:r>
            <a:r>
              <a:rPr lang="ru-RU" sz="3000" dirty="0" smtClean="0">
                <a:latin typeface="Bahnschrift SemiCondensed" panose="020B0502040204020203" pitchFamily="34" charset="0"/>
              </a:rPr>
              <a:t> – Главный </a:t>
            </a:r>
            <a:r>
              <a:rPr lang="en-US" sz="3000" dirty="0" smtClean="0">
                <a:latin typeface="Bahnschrift SemiCondensed" panose="020B0502040204020203" pitchFamily="34" charset="0"/>
              </a:rPr>
              <a:t>CSS</a:t>
            </a:r>
            <a:r>
              <a:rPr lang="ru-RU" sz="3000" dirty="0" smtClean="0">
                <a:latin typeface="Bahnschrift SemiCondensed" panose="020B0502040204020203" pitchFamily="34" charset="0"/>
              </a:rPr>
              <a:t> приложения</a:t>
            </a:r>
          </a:p>
          <a:p>
            <a:pPr marL="723900" lvl="1" indent="-266700">
              <a:buFont typeface="Arial" panose="020B0604020202020204" pitchFamily="34" charset="0"/>
              <a:buChar char="•"/>
            </a:pPr>
            <a:r>
              <a:rPr lang="en-US" sz="3000" dirty="0" smtClean="0">
                <a:solidFill>
                  <a:schemeClr val="accent6">
                    <a:lumMod val="50000"/>
                  </a:schemeClr>
                </a:solidFill>
                <a:latin typeface="Bahnschrift SemiCondensed" panose="020B0502040204020203" pitchFamily="34" charset="0"/>
              </a:rPr>
              <a:t>Index.js</a:t>
            </a:r>
            <a:r>
              <a:rPr lang="en-US" sz="3000" dirty="0" smtClean="0">
                <a:latin typeface="Bahnschrift SemiCondensed" panose="020B0502040204020203" pitchFamily="34" charset="0"/>
              </a:rPr>
              <a:t> – </a:t>
            </a:r>
            <a:r>
              <a:rPr lang="ru-RU" sz="3000" dirty="0" smtClean="0">
                <a:latin typeface="Bahnschrift SemiCondensed" panose="020B0502040204020203" pitchFamily="34" charset="0"/>
              </a:rPr>
              <a:t>Точка входа в приложение</a:t>
            </a:r>
          </a:p>
          <a:p>
            <a:pPr marL="723900" lvl="1" indent="-266700">
              <a:buFont typeface="Arial" panose="020B0604020202020204" pitchFamily="34" charset="0"/>
              <a:buChar char="•"/>
            </a:pPr>
            <a:endParaRPr lang="ru-RU" sz="3000" dirty="0">
              <a:latin typeface="Bahnschrift SemiCondensed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2831734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>
                <a:latin typeface="Bahnschrift SemiBold" panose="020B0502040204020203" pitchFamily="34" charset="0"/>
              </a:rPr>
              <a:t>8. Заключение</a:t>
            </a:r>
            <a:endParaRPr lang="ru-RU" dirty="0">
              <a:latin typeface="Bahnschrift SemiBold" panose="020B0502040204020203" pitchFamily="34" charset="0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000" dirty="0" smtClean="0">
                <a:latin typeface="Bahnschrift SemiCondensed" panose="020B0502040204020203" pitchFamily="34" charset="0"/>
              </a:rPr>
              <a:t>React </a:t>
            </a:r>
            <a:r>
              <a:rPr lang="ru-RU" sz="3000" dirty="0" smtClean="0">
                <a:latin typeface="Bahnschrift SemiCondensed" panose="020B0502040204020203" pitchFamily="34" charset="0"/>
              </a:rPr>
              <a:t>– библиотека, при которой можно свободно реализовать, </a:t>
            </a:r>
            <a:r>
              <a:rPr lang="ru-RU" sz="3000" smtClean="0">
                <a:latin typeface="Bahnschrift SemiCondensed" panose="020B0502040204020203" pitchFamily="34" charset="0"/>
              </a:rPr>
              <a:t>что угодно.</a:t>
            </a:r>
          </a:p>
          <a:p>
            <a:endParaRPr lang="ru-RU" sz="3000">
              <a:latin typeface="Bahnschrift SemiCondensed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63665949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D3C6AA"/>
      </a:dk1>
      <a:lt1>
        <a:sysClr val="window" lastClr="2D353B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136</TotalTime>
  <Words>337</Words>
  <Application>Microsoft Office PowerPoint</Application>
  <PresentationFormat>Широкоэкранный</PresentationFormat>
  <Paragraphs>40</Paragraphs>
  <Slides>12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12</vt:i4>
      </vt:variant>
    </vt:vector>
  </HeadingPairs>
  <TitlesOfParts>
    <vt:vector size="18" baseType="lpstr">
      <vt:lpstr>Arial</vt:lpstr>
      <vt:lpstr>Bahnschrift SemiBold</vt:lpstr>
      <vt:lpstr>Bahnschrift SemiCondensed</vt:lpstr>
      <vt:lpstr>Calibri</vt:lpstr>
      <vt:lpstr>Calibri Light</vt:lpstr>
      <vt:lpstr>Тема Office</vt:lpstr>
      <vt:lpstr>Библиотека React</vt:lpstr>
      <vt:lpstr>1. Что такое React</vt:lpstr>
      <vt:lpstr>2. Преимущества React</vt:lpstr>
      <vt:lpstr>3. Основные концепции React</vt:lpstr>
      <vt:lpstr>Функциональные компоненты</vt:lpstr>
      <vt:lpstr>Классовые компоненты</vt:lpstr>
      <vt:lpstr>3. Основные концепции React</vt:lpstr>
      <vt:lpstr>4. Свойства (Props)</vt:lpstr>
      <vt:lpstr>5. Состояние (State)</vt:lpstr>
      <vt:lpstr>6. Создание проекта</vt:lpstr>
      <vt:lpstr>7. Структура проекта</vt:lpstr>
      <vt:lpstr>8. Заключение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Библиотека React</dc:title>
  <dc:creator>Fujiwara Sato</dc:creator>
  <cp:lastModifiedBy>Fujiwara Sato</cp:lastModifiedBy>
  <cp:revision>9</cp:revision>
  <dcterms:created xsi:type="dcterms:W3CDTF">2025-10-02T21:52:29Z</dcterms:created>
  <dcterms:modified xsi:type="dcterms:W3CDTF">2025-10-03T00:08:44Z</dcterms:modified>
</cp:coreProperties>
</file>