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8" r:id="rId3"/>
    <p:sldId id="269" r:id="rId4"/>
    <p:sldId id="270" r:id="rId5"/>
    <p:sldId id="259" r:id="rId6"/>
    <p:sldId id="260" r:id="rId7"/>
    <p:sldId id="264" r:id="rId8"/>
    <p:sldId id="272" r:id="rId9"/>
    <p:sldId id="273" r:id="rId10"/>
    <p:sldId id="274" r:id="rId11"/>
    <p:sldId id="275" r:id="rId12"/>
    <p:sldId id="262" r:id="rId13"/>
    <p:sldId id="261" r:id="rId14"/>
  </p:sldIdLst>
  <p:sldSz cx="12192000" cy="6858000"/>
  <p:notesSz cx="6797675" cy="9926638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SR" initials="W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E9F"/>
    <a:srgbClr val="1C325E"/>
    <a:srgbClr val="DBDEE1"/>
    <a:srgbClr val="154A74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986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056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712" cy="496729"/>
          </a:xfrm>
          <a:prstGeom prst="rect">
            <a:avLst/>
          </a:prstGeom>
        </p:spPr>
        <p:txBody>
          <a:bodyPr vert="horz" lIns="91413" tIns="45706" rIns="91413" bIns="45706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50375" y="0"/>
            <a:ext cx="2945712" cy="496729"/>
          </a:xfrm>
          <a:prstGeom prst="rect">
            <a:avLst/>
          </a:prstGeom>
        </p:spPr>
        <p:txBody>
          <a:bodyPr vert="horz" lIns="91413" tIns="45706" rIns="91413" bIns="45706" rtlCol="0"/>
          <a:lstStyle>
            <a:lvl1pPr algn="r">
              <a:defRPr sz="1200"/>
            </a:lvl1pPr>
          </a:lstStyle>
          <a:p>
            <a:fld id="{EBB5A0CF-0954-4876-A0B1-0AB96B8B51C5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428323"/>
            <a:ext cx="2945712" cy="496728"/>
          </a:xfrm>
          <a:prstGeom prst="rect">
            <a:avLst/>
          </a:prstGeom>
        </p:spPr>
        <p:txBody>
          <a:bodyPr vert="horz" lIns="91413" tIns="45706" rIns="91413" bIns="45706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50375" y="9428323"/>
            <a:ext cx="2945712" cy="496728"/>
          </a:xfrm>
          <a:prstGeom prst="rect">
            <a:avLst/>
          </a:prstGeom>
        </p:spPr>
        <p:txBody>
          <a:bodyPr vert="horz" lIns="91413" tIns="45706" rIns="91413" bIns="45706" rtlCol="0" anchor="b"/>
          <a:lstStyle>
            <a:lvl1pPr algn="r">
              <a:defRPr sz="1200"/>
            </a:lvl1pPr>
          </a:lstStyle>
          <a:p>
            <a:fld id="{48FE1C09-1B22-4E8D-B6FF-913F1F8761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40554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13" tIns="45706" rIns="91413" bIns="45706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13" tIns="45706" rIns="91413" bIns="45706" rtlCol="0"/>
          <a:lstStyle>
            <a:lvl1pPr algn="r">
              <a:defRPr sz="1200"/>
            </a:lvl1pPr>
          </a:lstStyle>
          <a:p>
            <a:fld id="{7177AB9E-1F6A-42AA-9770-C37E2EE1D03E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13" tIns="45706" rIns="91413" bIns="45706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13" tIns="45706" rIns="91413" bIns="45706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13" tIns="45706" rIns="91413" bIns="45706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13" tIns="45706" rIns="91413" bIns="45706" rtlCol="0" anchor="b"/>
          <a:lstStyle>
            <a:lvl1pPr algn="r">
              <a:defRPr sz="1200"/>
            </a:lvl1pPr>
          </a:lstStyle>
          <a:p>
            <a:fld id="{247689CA-7339-44ED-AD03-62A324284F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3237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1A0F8-AE6A-4D46-B928-7359BADCE883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2CFF2-B1BA-4529-9310-5B6976D898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7015499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1A0F8-AE6A-4D46-B928-7359BADCE883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2CFF2-B1BA-4529-9310-5B6976D898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8938895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1A0F8-AE6A-4D46-B928-7359BADCE883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2CFF2-B1BA-4529-9310-5B6976D898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0204462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1A0F8-AE6A-4D46-B928-7359BADCE883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2CFF2-B1BA-4529-9310-5B6976D898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2163544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1A0F8-AE6A-4D46-B928-7359BADCE883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2CFF2-B1BA-4529-9310-5B6976D898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4120166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1A0F8-AE6A-4D46-B928-7359BADCE883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2CFF2-B1BA-4529-9310-5B6976D898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4240160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1A0F8-AE6A-4D46-B928-7359BADCE883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2CFF2-B1BA-4529-9310-5B6976D898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0180238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1A0F8-AE6A-4D46-B928-7359BADCE883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2CFF2-B1BA-4529-9310-5B6976D898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9598707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1A0F8-AE6A-4D46-B928-7359BADCE883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2CFF2-B1BA-4529-9310-5B6976D898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0508918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1A0F8-AE6A-4D46-B928-7359BADCE883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2CFF2-B1BA-4529-9310-5B6976D898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2326937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1A0F8-AE6A-4D46-B928-7359BADCE883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2CFF2-B1BA-4529-9310-5B6976D898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5323583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61A0F8-AE6A-4D46-B928-7359BADCE883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E2CFF2-B1BA-4529-9310-5B6976D898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0863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0" y="1905000"/>
            <a:ext cx="12200107" cy="269279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1038222" y="2343455"/>
            <a:ext cx="1033501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sz="28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ФОРМИРОВАНИЕ ПРОФЕССИОНАЛЬНОЙ КОМПЕТЕНЦИИ СПЕЦИАЛИСТОВ СРЕДНЕГО ЗВЕНА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algn="ctr">
              <a:spcAft>
                <a:spcPts val="0"/>
              </a:spcAft>
            </a:pPr>
            <a:r>
              <a:rPr lang="ru-RU" sz="28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 ОБЛАСТИ  ГРАФИЧЕСКОГО ДИЗАЙНА 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380977" y="347045"/>
            <a:ext cx="11506223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АВТОНОМНАЯ НЕКОММЕРЧЕСКАЯ ПРОФЕССИОНАЛЬНАЯ ОБРАЗОВАТЕЛЬНАЯ ОРГАНИЗАЦИЯ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«СУРГУТСКИЙ ИНСТИТУТ ЭКОНОМИКИ, УПРАВЛЕНИЯ И ПРАВА»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CustomShape 3"/>
          <p:cNvSpPr/>
          <p:nvPr/>
        </p:nvSpPr>
        <p:spPr>
          <a:xfrm>
            <a:off x="5644444" y="5036246"/>
            <a:ext cx="6321888" cy="12403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pPr>
              <a:lnSpc>
                <a:spcPct val="100000"/>
              </a:lnSpc>
            </a:pPr>
            <a:r>
              <a:rPr lang="ru-RU" sz="1400" b="0" strike="noStrike" spc="-1" dirty="0">
                <a:latin typeface="Times New Roman"/>
              </a:rPr>
              <a:t>Докладчик:</a:t>
            </a:r>
            <a:r>
              <a:rPr lang="en-US" sz="1400" b="0" strike="noStrike" spc="-1" dirty="0">
                <a:latin typeface="Times New Roman"/>
              </a:rPr>
              <a:t> </a:t>
            </a:r>
            <a:r>
              <a:rPr lang="ru-RU" sz="1400" b="0" strike="noStrike" spc="-1" dirty="0">
                <a:highlight>
                  <a:srgbClr val="FFFF00"/>
                </a:highlight>
                <a:latin typeface="Times New Roman"/>
              </a:rPr>
              <a:t>И</a:t>
            </a:r>
            <a:r>
              <a:rPr lang="ru-RU" sz="1400" spc="-1" dirty="0">
                <a:highlight>
                  <a:srgbClr val="FFFF00"/>
                </a:highlight>
                <a:latin typeface="Times New Roman"/>
              </a:rPr>
              <a:t>сламов Линар </a:t>
            </a:r>
            <a:r>
              <a:rPr lang="ru-RU" sz="1400" spc="-1" dirty="0" err="1">
                <a:highlight>
                  <a:srgbClr val="FFFF00"/>
                </a:highlight>
                <a:latin typeface="Times New Roman"/>
              </a:rPr>
              <a:t>Радикович</a:t>
            </a:r>
            <a:r>
              <a:rPr lang="ru-RU" sz="1400" b="0" strike="noStrike" spc="-1" dirty="0">
                <a:latin typeface="Times New Roman"/>
              </a:rPr>
              <a:t>, </a:t>
            </a:r>
          </a:p>
          <a:p>
            <a:pPr>
              <a:lnSpc>
                <a:spcPct val="100000"/>
              </a:lnSpc>
            </a:pPr>
            <a:r>
              <a:rPr lang="ru-RU" sz="1400" spc="-1" dirty="0">
                <a:latin typeface="Times New Roman"/>
              </a:rPr>
              <a:t>с</a:t>
            </a:r>
            <a:r>
              <a:rPr lang="ru-RU" sz="1400" b="0" strike="noStrike" spc="-1" dirty="0">
                <a:latin typeface="Times New Roman"/>
              </a:rPr>
              <a:t>тудент группы </a:t>
            </a:r>
            <a:r>
              <a:rPr lang="ru-RU" sz="1400" b="0" strike="noStrike" spc="-1" dirty="0">
                <a:highlight>
                  <a:srgbClr val="FFFF00"/>
                </a:highlight>
                <a:latin typeface="Times New Roman"/>
              </a:rPr>
              <a:t>ИС </a:t>
            </a:r>
            <a:r>
              <a:rPr lang="ru-RU" sz="1400" spc="-1" dirty="0">
                <a:highlight>
                  <a:srgbClr val="FFFF00"/>
                </a:highlight>
                <a:latin typeface="Times New Roman"/>
              </a:rPr>
              <a:t>21</a:t>
            </a:r>
            <a:r>
              <a:rPr lang="en-US" sz="1400" spc="-1" dirty="0">
                <a:highlight>
                  <a:srgbClr val="FFFF00"/>
                </a:highlight>
                <a:latin typeface="Times New Roman"/>
              </a:rPr>
              <a:t>/</a:t>
            </a:r>
            <a:r>
              <a:rPr lang="ru-RU" sz="1400" spc="-1" dirty="0">
                <a:highlight>
                  <a:srgbClr val="FFFF00"/>
                </a:highlight>
                <a:latin typeface="Times New Roman"/>
              </a:rPr>
              <a:t>9 П</a:t>
            </a:r>
            <a:endParaRPr lang="ru-RU" sz="1400" b="0" strike="noStrike" spc="-1" dirty="0">
              <a:highlight>
                <a:srgbClr val="FFFF00"/>
              </a:highlight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400" b="0" strike="noStrike" spc="-1" dirty="0">
                <a:latin typeface="Times New Roman"/>
              </a:rPr>
              <a:t>Специальность: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09.02.07 Информационные системы и программирование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ru-RU" sz="1400" b="0" strike="noStrike" spc="-1" dirty="0">
                <a:latin typeface="Times New Roman"/>
              </a:rPr>
              <a:t>Научный руководитель: </a:t>
            </a:r>
            <a:r>
              <a:rPr lang="ru-RU" sz="1400" spc="-1" dirty="0">
                <a:latin typeface="Times New Roman"/>
              </a:rPr>
              <a:t>Безденежный Виктор Павлович, п</a:t>
            </a:r>
            <a:r>
              <a:rPr lang="ru-RU" sz="1400" b="0" strike="noStrike" spc="-1" dirty="0">
                <a:latin typeface="Times New Roman"/>
              </a:rPr>
              <a:t>реподаватель АНПОО </a:t>
            </a:r>
            <a:r>
              <a:rPr lang="ru-RU" sz="1400" spc="-1" dirty="0">
                <a:latin typeface="Times New Roman"/>
              </a:rPr>
              <a:t>«Сургутский институт экономики, управления и права»</a:t>
            </a:r>
            <a:endParaRPr lang="ru-RU" sz="1400" b="0" strike="noStrike" spc="-1" dirty="0">
              <a:latin typeface="Times New Roman"/>
            </a:endParaRPr>
          </a:p>
          <a:p>
            <a:pPr>
              <a:lnSpc>
                <a:spcPct val="100000"/>
              </a:lnSpc>
            </a:pPr>
            <a:endParaRPr lang="ru-RU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600" b="0" strike="noStrike" spc="-1" dirty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320029" y="4011696"/>
            <a:ext cx="55600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ВЫПУСКНАЯ КВАЛИФИКАЦИОННАЯ РАБОТА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77" y="132635"/>
            <a:ext cx="597147" cy="829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294529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70700" y="0"/>
            <a:ext cx="5321300" cy="19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0" y="6667500"/>
            <a:ext cx="5321300" cy="19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353683" y="1072182"/>
            <a:ext cx="37699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АКТУАЛЬНОСТЬ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90314" y="6482834"/>
            <a:ext cx="300082" cy="369332"/>
          </a:xfrm>
          <a:prstGeom prst="rect">
            <a:avLst/>
          </a:prstGeom>
          <a:solidFill>
            <a:srgbClr val="DBDEE1"/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6" name="Прямоугольник 5"/>
          <p:cNvSpPr/>
          <p:nvPr/>
        </p:nvSpPr>
        <p:spPr>
          <a:xfrm flipV="1">
            <a:off x="353683" y="1611236"/>
            <a:ext cx="3584573" cy="4571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77" y="132635"/>
            <a:ext cx="597147" cy="829963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3938257" y="547616"/>
            <a:ext cx="7982538" cy="575158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7D8407-404C-4146-AD7A-D71F8B2D5152}"/>
              </a:ext>
            </a:extLst>
          </p:cNvPr>
          <p:cNvSpPr txBox="1"/>
          <p:nvPr/>
        </p:nvSpPr>
        <p:spPr>
          <a:xfrm>
            <a:off x="3938256" y="558801"/>
            <a:ext cx="798253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современных условиях цифровизации общества и образования возрастает значимость эффективного взаимодействия между дошкольными образовательными организациями и семьями воспитанников. Формирование читательских интересов у детей дошкольного возраста — одна из ключевых задач, определяющих успешность их дальнейшего интеллектуального, речевого и личностного развития. Однако традиционные формы работы с родителями не всегда обеспечивают необходимую вовлечённость и оперативность обмена информацией.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0461214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70700" y="0"/>
            <a:ext cx="5321300" cy="19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0" y="6667500"/>
            <a:ext cx="5321300" cy="19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1890314" y="6482834"/>
            <a:ext cx="300082" cy="369332"/>
          </a:xfrm>
          <a:prstGeom prst="rect">
            <a:avLst/>
          </a:prstGeom>
          <a:solidFill>
            <a:srgbClr val="DBDEE1"/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3681" y="1143526"/>
            <a:ext cx="37699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ОБЪЕКТ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680" y="3674200"/>
            <a:ext cx="37699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ПРЕДМЕТ</a:t>
            </a:r>
          </a:p>
        </p:txBody>
      </p:sp>
      <p:sp>
        <p:nvSpPr>
          <p:cNvPr id="20" name="Прямоугольник 19"/>
          <p:cNvSpPr/>
          <p:nvPr/>
        </p:nvSpPr>
        <p:spPr>
          <a:xfrm flipV="1">
            <a:off x="353680" y="1659562"/>
            <a:ext cx="3584573" cy="4571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/>
        </p:nvSpPr>
        <p:spPr>
          <a:xfrm flipV="1">
            <a:off x="353679" y="4280817"/>
            <a:ext cx="3584573" cy="4571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77" y="132635"/>
            <a:ext cx="597147" cy="829963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3938253" y="547616"/>
            <a:ext cx="7952061" cy="288420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/>
        </p:nvSpPr>
        <p:spPr>
          <a:xfrm>
            <a:off x="3938253" y="3658780"/>
            <a:ext cx="7952062" cy="26968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A1D5BD-8697-41E5-ACDD-797A44DF3F8F}"/>
              </a:ext>
            </a:extLst>
          </p:cNvPr>
          <p:cNvSpPr txBox="1"/>
          <p:nvPr/>
        </p:nvSpPr>
        <p:spPr>
          <a:xfrm>
            <a:off x="3938252" y="3674200"/>
            <a:ext cx="795206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и использование </a:t>
            </a:r>
            <a:r>
              <a:rPr lang="ru-RU" sz="2400" b="0" i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lang="ru-RU" sz="24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-приложения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как инструмента для организации и поддержки взаимодействия между педагогами и родителями с целью формирования читательских интересов у дошкольников.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7D307F-B69A-4529-A2FE-EBE64FBF652C}"/>
              </a:ext>
            </a:extLst>
          </p:cNvPr>
          <p:cNvSpPr txBox="1"/>
          <p:nvPr/>
        </p:nvSpPr>
        <p:spPr>
          <a:xfrm>
            <a:off x="3938252" y="547616"/>
            <a:ext cx="79520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Процесс взаимодействия дошкольной образовательной организации и семьи, направленный на формирование читательских интересов у детей дошкольного возраста.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228732897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70700" y="0"/>
            <a:ext cx="5321300" cy="19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0" y="6667500"/>
            <a:ext cx="5321300" cy="19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1890314" y="6482834"/>
            <a:ext cx="300082" cy="369332"/>
          </a:xfrm>
          <a:prstGeom prst="rect">
            <a:avLst/>
          </a:prstGeom>
          <a:solidFill>
            <a:srgbClr val="DBDEE1"/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679" y="1152936"/>
            <a:ext cx="37699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МЕТОДЫ</a:t>
            </a:r>
          </a:p>
        </p:txBody>
      </p:sp>
      <p:sp>
        <p:nvSpPr>
          <p:cNvPr id="22" name="Прямоугольник 21"/>
          <p:cNvSpPr/>
          <p:nvPr/>
        </p:nvSpPr>
        <p:spPr>
          <a:xfrm flipV="1">
            <a:off x="353677" y="1703233"/>
            <a:ext cx="3584573" cy="4571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77" y="132635"/>
            <a:ext cx="597147" cy="829963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3938251" y="547616"/>
            <a:ext cx="7952064" cy="57628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330002-623E-4DAB-91E1-7E7FBEE20142}"/>
              </a:ext>
            </a:extLst>
          </p:cNvPr>
          <p:cNvSpPr txBox="1"/>
          <p:nvPr/>
        </p:nvSpPr>
        <p:spPr>
          <a:xfrm>
            <a:off x="3938250" y="547616"/>
            <a:ext cx="7952064" cy="6104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Теоретические методы: анализ педагогической, психологической и технической литературы; изучение нормативно-правовой базы образования; системный подход к проектированию интерфейсов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Эмпирические методы: опрос родителей и воспитателей; педагогическое моделирование; метод экспертной оценки прототипа приложения.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"/>
            </a:pP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Методы проектирования: создание алгоритмов взаимодействия, прототипирование интерфейсов, тестирование пользовательского пути.</a:t>
            </a: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0053043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70700" y="0"/>
            <a:ext cx="5321300" cy="19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0" y="6667500"/>
            <a:ext cx="5321300" cy="19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353683" y="1072182"/>
            <a:ext cx="37699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ЦЕЛЬ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90314" y="6482834"/>
            <a:ext cx="300082" cy="369332"/>
          </a:xfrm>
          <a:prstGeom prst="rect">
            <a:avLst/>
          </a:prstGeom>
          <a:solidFill>
            <a:srgbClr val="DBDEE1"/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6" name="Прямоугольник 5"/>
          <p:cNvSpPr/>
          <p:nvPr/>
        </p:nvSpPr>
        <p:spPr>
          <a:xfrm flipV="1">
            <a:off x="353683" y="1611236"/>
            <a:ext cx="3584573" cy="4571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353681" y="2261128"/>
            <a:ext cx="37699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ЗАДАЧИ</a:t>
            </a:r>
          </a:p>
        </p:txBody>
      </p:sp>
      <p:sp>
        <p:nvSpPr>
          <p:cNvPr id="20" name="Прямоугольник 19"/>
          <p:cNvSpPr/>
          <p:nvPr/>
        </p:nvSpPr>
        <p:spPr>
          <a:xfrm flipV="1">
            <a:off x="353680" y="2777164"/>
            <a:ext cx="3584573" cy="4571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77" y="132635"/>
            <a:ext cx="597147" cy="829963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3938257" y="547615"/>
            <a:ext cx="7952058" cy="15466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3938257" y="2291608"/>
            <a:ext cx="7952057" cy="40025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4466061" y="2774398"/>
            <a:ext cx="324128" cy="3886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●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4466061" y="3721046"/>
            <a:ext cx="324128" cy="3886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●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4466061" y="4356497"/>
            <a:ext cx="324128" cy="3886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●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41E7A4-87F1-422E-85AA-CFFF0D0D0FC9}"/>
              </a:ext>
            </a:extLst>
          </p:cNvPr>
          <p:cNvSpPr txBox="1"/>
          <p:nvPr/>
        </p:nvSpPr>
        <p:spPr>
          <a:xfrm>
            <a:off x="4778224" y="2685010"/>
            <a:ext cx="6718359" cy="878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Проанализировать специфику взаимодействия семьи и дошкольной организации в современных условиях.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38CAD0-8C74-44B0-81ED-45267F4C7D30}"/>
              </a:ext>
            </a:extLst>
          </p:cNvPr>
          <p:cNvSpPr txBox="1"/>
          <p:nvPr/>
        </p:nvSpPr>
        <p:spPr>
          <a:xfrm>
            <a:off x="4738814" y="3649320"/>
            <a:ext cx="7100124" cy="463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Разработать структуру и контентное наполнение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web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-приложения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2415C2-28C5-4D87-94A7-4EC900FD781C}"/>
              </a:ext>
            </a:extLst>
          </p:cNvPr>
          <p:cNvSpPr txBox="1"/>
          <p:nvPr/>
        </p:nvSpPr>
        <p:spPr>
          <a:xfrm>
            <a:off x="4738814" y="4372762"/>
            <a:ext cx="71001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Проверить функциональность и педагогическую целесообразность разработанного ресурса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561210-AF72-4628-8DE6-55CB6AF57602}"/>
              </a:ext>
            </a:extLst>
          </p:cNvPr>
          <p:cNvSpPr txBox="1"/>
          <p:nvPr/>
        </p:nvSpPr>
        <p:spPr>
          <a:xfrm>
            <a:off x="3938253" y="547615"/>
            <a:ext cx="7952057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</a:t>
            </a:r>
            <a:r>
              <a:rPr lang="ru-RU" sz="2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еоретически обосновать, спроектировать и разработать </a:t>
            </a:r>
            <a:r>
              <a:rPr lang="en-US" sz="2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web</a:t>
            </a:r>
            <a:r>
              <a:rPr lang="ru-RU" sz="2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-приложение, обеспечивающее эффективное взаимодействие ДОО и семьи по формированию читательских интересов у детей дошкольного возраста</a:t>
            </a:r>
            <a:endParaRPr lang="ru-RU" sz="2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sz="2100" dirty="0"/>
          </a:p>
        </p:txBody>
      </p:sp>
    </p:spTree>
    <p:extLst>
      <p:ext uri="{BB962C8B-B14F-4D97-AF65-F5344CB8AC3E}">
        <p14:creationId xmlns:p14="http://schemas.microsoft.com/office/powerpoint/2010/main" val="4152375380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70700" y="0"/>
            <a:ext cx="5321300" cy="19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0" y="6667500"/>
            <a:ext cx="5321300" cy="19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353683" y="1072182"/>
            <a:ext cx="37699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НОВИЗНА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90314" y="6482834"/>
            <a:ext cx="300082" cy="369332"/>
          </a:xfrm>
          <a:prstGeom prst="rect">
            <a:avLst/>
          </a:prstGeom>
          <a:solidFill>
            <a:srgbClr val="DBDEE1"/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6" name="Прямоугольник 5"/>
          <p:cNvSpPr/>
          <p:nvPr/>
        </p:nvSpPr>
        <p:spPr>
          <a:xfrm flipV="1">
            <a:off x="353683" y="1611236"/>
            <a:ext cx="3584573" cy="4571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353681" y="2977408"/>
            <a:ext cx="37699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ПРАКТИЧЕСКАЯ ЗНАЧИМОСТЬ</a:t>
            </a:r>
          </a:p>
        </p:txBody>
      </p:sp>
      <p:sp>
        <p:nvSpPr>
          <p:cNvPr id="20" name="Прямоугольник 19"/>
          <p:cNvSpPr/>
          <p:nvPr/>
        </p:nvSpPr>
        <p:spPr>
          <a:xfrm flipV="1">
            <a:off x="353681" y="4053648"/>
            <a:ext cx="3584573" cy="4571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77" y="132635"/>
            <a:ext cx="597147" cy="829963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3965551" y="547617"/>
            <a:ext cx="7924764" cy="173838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380977" y="5616037"/>
            <a:ext cx="37699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РЕЦЕНЗЕНТ</a:t>
            </a:r>
          </a:p>
        </p:txBody>
      </p:sp>
      <p:sp>
        <p:nvSpPr>
          <p:cNvPr id="13" name="Прямоугольник 12"/>
          <p:cNvSpPr/>
          <p:nvPr/>
        </p:nvSpPr>
        <p:spPr>
          <a:xfrm flipV="1">
            <a:off x="380977" y="6128397"/>
            <a:ext cx="3584573" cy="4571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3965552" y="2433484"/>
            <a:ext cx="7924762" cy="294994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/>
        </p:nvSpPr>
        <p:spPr>
          <a:xfrm>
            <a:off x="3965553" y="5557485"/>
            <a:ext cx="7924760" cy="9253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75DDC2-72BC-4B24-84AD-5DB2ACFE91EC}"/>
              </a:ext>
            </a:extLst>
          </p:cNvPr>
          <p:cNvSpPr txBox="1"/>
          <p:nvPr/>
        </p:nvSpPr>
        <p:spPr>
          <a:xfrm>
            <a:off x="3965550" y="547617"/>
            <a:ext cx="7924762" cy="17098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Сформулировать требования к интерфейсу и функционалу специализированного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web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-ресурса для сопровождения детского чтения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Разработать модель интерактивного взаимодействия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"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Определение алгоритма отбора и систематизации детской литературы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D69BFB-214C-41E0-AED2-E2710BD87B2D}"/>
              </a:ext>
            </a:extLst>
          </p:cNvPr>
          <p:cNvSpPr txBox="1"/>
          <p:nvPr/>
        </p:nvSpPr>
        <p:spPr>
          <a:xfrm>
            <a:off x="3965550" y="2433484"/>
            <a:ext cx="7924760" cy="17098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Практическая значимость дипломной работы обусловлена возможностью непосредственного применения результатов исследования в деятельности дошкольных образовательных организаций и семей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заинтересованных в формировании у детей устойчивого интереса к чтению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1553718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70700" y="0"/>
            <a:ext cx="5321300" cy="19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0" y="6667500"/>
            <a:ext cx="5321300" cy="19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724003" y="286006"/>
            <a:ext cx="5166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ТЕЗИСЫ 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 </a:t>
            </a:r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ГЛАВЫ (§ 1.1)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90314" y="6482834"/>
            <a:ext cx="300082" cy="369332"/>
          </a:xfrm>
          <a:prstGeom prst="rect">
            <a:avLst/>
          </a:prstGeom>
          <a:solidFill>
            <a:srgbClr val="DBDEE1"/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6" name="Прямоугольник 5"/>
          <p:cNvSpPr/>
          <p:nvPr/>
        </p:nvSpPr>
        <p:spPr>
          <a:xfrm flipV="1">
            <a:off x="6816670" y="929609"/>
            <a:ext cx="5375330" cy="4571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77" y="132635"/>
            <a:ext cx="597147" cy="829963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380976" y="1240113"/>
            <a:ext cx="11509337" cy="50574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B7911C-ED1C-4539-B47A-294F16B5153C}"/>
              </a:ext>
            </a:extLst>
          </p:cNvPr>
          <p:cNvSpPr txBox="1"/>
          <p:nvPr/>
        </p:nvSpPr>
        <p:spPr>
          <a:xfrm>
            <a:off x="380976" y="1240113"/>
            <a:ext cx="11509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1.1. Понятие и цели интерфейса</a:t>
            </a:r>
          </a:p>
        </p:txBody>
      </p:sp>
    </p:spTree>
    <p:extLst>
      <p:ext uri="{BB962C8B-B14F-4D97-AF65-F5344CB8AC3E}">
        <p14:creationId xmlns:p14="http://schemas.microsoft.com/office/powerpoint/2010/main" val="3679982346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70700" y="0"/>
            <a:ext cx="5321300" cy="19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0" y="6667500"/>
            <a:ext cx="5321300" cy="19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724003" y="286006"/>
            <a:ext cx="5166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ТЕЗИСЫ 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 </a:t>
            </a:r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ГЛАВЫ (§ 1.2)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90314" y="6482834"/>
            <a:ext cx="300082" cy="369332"/>
          </a:xfrm>
          <a:prstGeom prst="rect">
            <a:avLst/>
          </a:prstGeom>
          <a:solidFill>
            <a:srgbClr val="DBDEE1"/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6" name="Прямоугольник 5"/>
          <p:cNvSpPr/>
          <p:nvPr/>
        </p:nvSpPr>
        <p:spPr>
          <a:xfrm flipV="1">
            <a:off x="6816670" y="929609"/>
            <a:ext cx="5375330" cy="4571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77" y="132635"/>
            <a:ext cx="597147" cy="829963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380976" y="1240113"/>
            <a:ext cx="11509337" cy="50574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7D0B8F-8EAE-41F1-AEB2-46C5FAF6DB6C}"/>
              </a:ext>
            </a:extLst>
          </p:cNvPr>
          <p:cNvSpPr txBox="1"/>
          <p:nvPr/>
        </p:nvSpPr>
        <p:spPr>
          <a:xfrm>
            <a:off x="380976" y="1240113"/>
            <a:ext cx="109646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1.2.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Основы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 Design: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преимущества и минусы</a:t>
            </a:r>
          </a:p>
        </p:txBody>
      </p:sp>
    </p:spTree>
    <p:extLst>
      <p:ext uri="{BB962C8B-B14F-4D97-AF65-F5344CB8AC3E}">
        <p14:creationId xmlns:p14="http://schemas.microsoft.com/office/powerpoint/2010/main" val="203574571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70700" y="0"/>
            <a:ext cx="5321300" cy="19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0" y="6667500"/>
            <a:ext cx="5321300" cy="19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724003" y="286006"/>
            <a:ext cx="5166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ТЕЗИСЫ 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 </a:t>
            </a:r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ГЛАВЫ (§ 1.3)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90314" y="6482834"/>
            <a:ext cx="300082" cy="369332"/>
          </a:xfrm>
          <a:prstGeom prst="rect">
            <a:avLst/>
          </a:prstGeom>
          <a:solidFill>
            <a:srgbClr val="DBDEE1"/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6" name="Прямоугольник 5"/>
          <p:cNvSpPr/>
          <p:nvPr/>
        </p:nvSpPr>
        <p:spPr>
          <a:xfrm flipV="1">
            <a:off x="6816670" y="929609"/>
            <a:ext cx="5375330" cy="4571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77" y="132635"/>
            <a:ext cx="597147" cy="829963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380976" y="1240113"/>
            <a:ext cx="11509337" cy="50574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7D0B8F-8EAE-41F1-AEB2-46C5FAF6DB6C}"/>
              </a:ext>
            </a:extLst>
          </p:cNvPr>
          <p:cNvSpPr txBox="1"/>
          <p:nvPr/>
        </p:nvSpPr>
        <p:spPr>
          <a:xfrm>
            <a:off x="380976" y="1240113"/>
            <a:ext cx="109646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Роль цифровых технологий в формировании читательских интересов у детей дошкольного возраста</a:t>
            </a:r>
          </a:p>
        </p:txBody>
      </p:sp>
    </p:spTree>
    <p:extLst>
      <p:ext uri="{BB962C8B-B14F-4D97-AF65-F5344CB8AC3E}">
        <p14:creationId xmlns:p14="http://schemas.microsoft.com/office/powerpoint/2010/main" val="2789062082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70700" y="0"/>
            <a:ext cx="5321300" cy="19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0" y="6667500"/>
            <a:ext cx="5321300" cy="19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724003" y="286006"/>
            <a:ext cx="5166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ТЕЗИСЫ 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 </a:t>
            </a:r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ГЛАВЫ (§ 1.4)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90314" y="6482834"/>
            <a:ext cx="300082" cy="369332"/>
          </a:xfrm>
          <a:prstGeom prst="rect">
            <a:avLst/>
          </a:prstGeom>
          <a:solidFill>
            <a:srgbClr val="DBDEE1"/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6" name="Прямоугольник 5"/>
          <p:cNvSpPr/>
          <p:nvPr/>
        </p:nvSpPr>
        <p:spPr>
          <a:xfrm flipV="1">
            <a:off x="6816670" y="929609"/>
            <a:ext cx="5375330" cy="4571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77" y="132635"/>
            <a:ext cx="597147" cy="829963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380976" y="1240113"/>
            <a:ext cx="11509337" cy="50574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7D0B8F-8EAE-41F1-AEB2-46C5FAF6DB6C}"/>
              </a:ext>
            </a:extLst>
          </p:cNvPr>
          <p:cNvSpPr txBox="1"/>
          <p:nvPr/>
        </p:nvSpPr>
        <p:spPr>
          <a:xfrm>
            <a:off x="380976" y="1240113"/>
            <a:ext cx="109646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пользовательского опыта для совместной деятельности семьи и ДОО</a:t>
            </a:r>
          </a:p>
        </p:txBody>
      </p:sp>
    </p:spTree>
    <p:extLst>
      <p:ext uri="{BB962C8B-B14F-4D97-AF65-F5344CB8AC3E}">
        <p14:creationId xmlns:p14="http://schemas.microsoft.com/office/powerpoint/2010/main" val="729623379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70700" y="0"/>
            <a:ext cx="5321300" cy="19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0" y="6667500"/>
            <a:ext cx="5321300" cy="19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724003" y="286006"/>
            <a:ext cx="5166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ТЕЗИСЫ 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 </a:t>
            </a:r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ГЛАВЫ (§ 1.5)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90314" y="6482834"/>
            <a:ext cx="300082" cy="369332"/>
          </a:xfrm>
          <a:prstGeom prst="rect">
            <a:avLst/>
          </a:prstGeom>
          <a:solidFill>
            <a:srgbClr val="DBDEE1"/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6" name="Прямоугольник 5"/>
          <p:cNvSpPr/>
          <p:nvPr/>
        </p:nvSpPr>
        <p:spPr>
          <a:xfrm flipV="1">
            <a:off x="6816670" y="929609"/>
            <a:ext cx="5375330" cy="4571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77" y="132635"/>
            <a:ext cx="597147" cy="829963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380976" y="1240113"/>
            <a:ext cx="11509337" cy="50574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7D0B8F-8EAE-41F1-AEB2-46C5FAF6DB6C}"/>
              </a:ext>
            </a:extLst>
          </p:cNvPr>
          <p:cNvSpPr txBox="1"/>
          <p:nvPr/>
        </p:nvSpPr>
        <p:spPr>
          <a:xfrm>
            <a:off x="380976" y="1240113"/>
            <a:ext cx="109646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Персонализация контента и рекомендательные алгоритмы: создание уникальной образовательной траектории</a:t>
            </a:r>
          </a:p>
        </p:txBody>
      </p:sp>
    </p:spTree>
    <p:extLst>
      <p:ext uri="{BB962C8B-B14F-4D97-AF65-F5344CB8AC3E}">
        <p14:creationId xmlns:p14="http://schemas.microsoft.com/office/powerpoint/2010/main" val="4191074342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70700" y="0"/>
            <a:ext cx="5321300" cy="19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0" y="6667500"/>
            <a:ext cx="5321300" cy="19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724003" y="286006"/>
            <a:ext cx="5166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ВЫВОДЫ ПО 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 </a:t>
            </a:r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ГЛАВЕ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90314" y="6482834"/>
            <a:ext cx="300082" cy="369332"/>
          </a:xfrm>
          <a:prstGeom prst="rect">
            <a:avLst/>
          </a:prstGeom>
          <a:solidFill>
            <a:srgbClr val="DBDEE1"/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77" y="132635"/>
            <a:ext cx="597147" cy="829963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 flipV="1">
            <a:off x="6816670" y="929609"/>
            <a:ext cx="5375330" cy="4571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380976" y="1240113"/>
            <a:ext cx="11509337" cy="50574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2AB214-208A-4F99-83AD-6BD38C33A23E}"/>
              </a:ext>
            </a:extLst>
          </p:cNvPr>
          <p:cNvSpPr txBox="1"/>
          <p:nvPr/>
        </p:nvSpPr>
        <p:spPr>
          <a:xfrm>
            <a:off x="380976" y="1240113"/>
            <a:ext cx="925129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Выводы </a:t>
            </a:r>
            <a:r>
              <a:rPr lang="ru-RU" dirty="0">
                <a:sym typeface="Wingdings" panose="05000000000000000000" pitchFamily="2" charset="2"/>
              </a:rPr>
              <a:t> -_- </a:t>
            </a:r>
          </a:p>
          <a:p>
            <a:r>
              <a:rPr lang="ru-RU" i="0" dirty="0">
                <a:solidFill>
                  <a:srgbClr val="222222"/>
                </a:solidFill>
                <a:effectLst/>
                <a:latin typeface="SB Sans Text"/>
              </a:rPr>
              <a:t>Интерфейс как ключевой элемент образовательного процесса.</a:t>
            </a:r>
            <a:endParaRPr lang="ru-RU" i="0" dirty="0">
              <a:solidFill>
                <a:srgbClr val="222222"/>
              </a:solidFill>
              <a:effectLst/>
              <a:latin typeface="SB Sans Text"/>
              <a:sym typeface="Wingdings" panose="05000000000000000000" pitchFamily="2" charset="2"/>
            </a:endParaRPr>
          </a:p>
          <a:p>
            <a:r>
              <a:rPr lang="ru-RU" i="0" dirty="0">
                <a:solidFill>
                  <a:srgbClr val="222222"/>
                </a:solidFill>
                <a:effectLst/>
                <a:latin typeface="SB Sans Text"/>
              </a:rPr>
              <a:t>Двойная задача дизайна</a:t>
            </a:r>
            <a:endParaRPr lang="ru-RU" dirty="0">
              <a:solidFill>
                <a:srgbClr val="222222"/>
              </a:solidFill>
              <a:latin typeface="SB Sans Text"/>
              <a:sym typeface="Wingdings" panose="05000000000000000000" pitchFamily="2" charset="2"/>
            </a:endParaRPr>
          </a:p>
          <a:p>
            <a:r>
              <a:rPr lang="ru-RU" i="0" dirty="0">
                <a:solidFill>
                  <a:srgbClr val="222222"/>
                </a:solidFill>
                <a:effectLst/>
                <a:latin typeface="SB Sans Text"/>
              </a:rPr>
              <a:t>Стратегическая роль </a:t>
            </a:r>
            <a:r>
              <a:rPr lang="en-US" i="0" dirty="0">
                <a:solidFill>
                  <a:srgbClr val="222222"/>
                </a:solidFill>
                <a:effectLst/>
                <a:latin typeface="SB Sans Text"/>
              </a:rPr>
              <a:t>UX-</a:t>
            </a:r>
            <a:r>
              <a:rPr lang="ru-RU" i="0" dirty="0">
                <a:solidFill>
                  <a:srgbClr val="222222"/>
                </a:solidFill>
                <a:effectLst/>
                <a:latin typeface="SB Sans Text"/>
              </a:rPr>
              <a:t>проектирования</a:t>
            </a:r>
            <a:endParaRPr lang="ru-RU" i="0" dirty="0">
              <a:solidFill>
                <a:srgbClr val="222222"/>
              </a:solidFill>
              <a:effectLst/>
              <a:latin typeface="SB Sans Text"/>
              <a:sym typeface="Wingdings" panose="05000000000000000000" pitchFamily="2" charset="2"/>
            </a:endParaRPr>
          </a:p>
          <a:p>
            <a:r>
              <a:rPr lang="ru-RU" i="0" dirty="0">
                <a:solidFill>
                  <a:srgbClr val="222222"/>
                </a:solidFill>
                <a:effectLst/>
                <a:latin typeface="SB Sans Text"/>
              </a:rPr>
              <a:t>Основа современного дизайна — </a:t>
            </a:r>
            <a:r>
              <a:rPr lang="ru-RU" i="0" dirty="0" err="1">
                <a:solidFill>
                  <a:srgbClr val="222222"/>
                </a:solidFill>
                <a:effectLst/>
                <a:latin typeface="SB Sans Text"/>
              </a:rPr>
              <a:t>Material</a:t>
            </a:r>
            <a:r>
              <a:rPr lang="ru-RU" i="0" dirty="0">
                <a:solidFill>
                  <a:srgbClr val="222222"/>
                </a:solidFill>
                <a:effectLst/>
                <a:latin typeface="SB Sans Text"/>
              </a:rPr>
              <a:t> Design</a:t>
            </a:r>
            <a:endParaRPr lang="ru-RU" dirty="0">
              <a:solidFill>
                <a:srgbClr val="222222"/>
              </a:solidFill>
              <a:latin typeface="SB Sans Text"/>
              <a:sym typeface="Wingdings" panose="05000000000000000000" pitchFamily="2" charset="2"/>
            </a:endParaRPr>
          </a:p>
          <a:p>
            <a:r>
              <a:rPr lang="ru-RU" i="0" dirty="0">
                <a:solidFill>
                  <a:srgbClr val="222222"/>
                </a:solidFill>
                <a:effectLst/>
                <a:latin typeface="SB Sans Text"/>
              </a:rPr>
              <a:t>Персонализация — залог эффективности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02925073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70700" y="0"/>
            <a:ext cx="5321300" cy="19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0" y="6667500"/>
            <a:ext cx="5321300" cy="19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724003" y="286006"/>
            <a:ext cx="37699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ЗАКЛЮЧЕНИЕ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90314" y="6482834"/>
            <a:ext cx="300082" cy="369332"/>
          </a:xfrm>
          <a:prstGeom prst="rect">
            <a:avLst/>
          </a:prstGeom>
          <a:solidFill>
            <a:srgbClr val="DBDEE1"/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77" y="132635"/>
            <a:ext cx="597147" cy="829963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 flipV="1">
            <a:off x="6816670" y="929609"/>
            <a:ext cx="5375330" cy="4571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380976" y="1240113"/>
            <a:ext cx="11509337" cy="50574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8404355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4457</TotalTime>
  <Words>458</Words>
  <Application>Microsoft Office PowerPoint</Application>
  <PresentationFormat>Широкоэкранный</PresentationFormat>
  <Paragraphs>65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SB Sans Text</vt:lpstr>
      <vt:lpstr>Symbol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Николай Александрович Юнев</dc:creator>
  <cp:lastModifiedBy>126</cp:lastModifiedBy>
  <cp:revision>186</cp:revision>
  <cp:lastPrinted>2019-12-10T09:59:06Z</cp:lastPrinted>
  <dcterms:created xsi:type="dcterms:W3CDTF">2018-06-25T09:33:48Z</dcterms:created>
  <dcterms:modified xsi:type="dcterms:W3CDTF">2026-05-21T08:45:38Z</dcterms:modified>
</cp:coreProperties>
</file>