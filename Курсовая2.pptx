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59FD"/>
    <a:srgbClr val="1C1A3E"/>
    <a:srgbClr val="945AFC"/>
    <a:srgbClr val="21198F"/>
    <a:srgbClr val="392DD7"/>
    <a:srgbClr val="6A57F3"/>
    <a:srgbClr val="21253F"/>
    <a:srgbClr val="2F2B39"/>
    <a:srgbClr val="3010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0D413-4CC8-4EB6-9905-154DA0759DBD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B71B-B59D-4262-BD33-08675E637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5984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0D413-4CC8-4EB6-9905-154DA0759DBD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B71B-B59D-4262-BD33-08675E637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77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0D413-4CC8-4EB6-9905-154DA0759DBD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B71B-B59D-4262-BD33-08675E637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76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0D413-4CC8-4EB6-9905-154DA0759DBD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B71B-B59D-4262-BD33-08675E637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891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0D413-4CC8-4EB6-9905-154DA0759DBD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B71B-B59D-4262-BD33-08675E637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0601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0D413-4CC8-4EB6-9905-154DA0759DBD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B71B-B59D-4262-BD33-08675E637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789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0D413-4CC8-4EB6-9905-154DA0759DBD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B71B-B59D-4262-BD33-08675E637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777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0D413-4CC8-4EB6-9905-154DA0759DBD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B71B-B59D-4262-BD33-08675E637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0535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0D413-4CC8-4EB6-9905-154DA0759DBD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B71B-B59D-4262-BD33-08675E637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591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0D413-4CC8-4EB6-9905-154DA0759DBD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B71B-B59D-4262-BD33-08675E637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197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0D413-4CC8-4EB6-9905-154DA0759DBD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B71B-B59D-4262-BD33-08675E637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3861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0D413-4CC8-4EB6-9905-154DA0759DBD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E9B71B-B59D-4262-BD33-08675E6374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17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21253F"/>
            </a:gs>
            <a:gs pos="65000">
              <a:srgbClr val="1C1A3E"/>
            </a:gs>
            <a:gs pos="0">
              <a:srgbClr val="B359FD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321738"/>
            <a:ext cx="9144000" cy="1274474"/>
          </a:xfrm>
        </p:spPr>
        <p:txBody>
          <a:bodyPr>
            <a:noAutofit/>
          </a:bodyPr>
          <a:lstStyle/>
          <a:p>
            <a:pPr algn="ctr"/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Курсовая работа на тему:</a:t>
            </a:r>
            <a:b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</a:b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«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ПРОЕКТИРОВАНИЕ СИСТЕМЫ ОБРАБОТКИ ИСКЛЮЧИТЕЛЬНЫХ СИТУАЦИЙ В ПРОГРАММНОМ </a:t>
            </a: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МОДУЛЕ»</a:t>
            </a:r>
            <a:endParaRPr lang="ru-RU" sz="12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93455" y="3971917"/>
            <a:ext cx="8866908" cy="2161027"/>
          </a:xfrm>
        </p:spPr>
        <p:txBody>
          <a:bodyPr/>
          <a:lstStyle/>
          <a:p>
            <a:pPr algn="l">
              <a:spcBef>
                <a:spcPts val="300"/>
              </a:spcBef>
            </a:pPr>
            <a:r>
              <a:rPr lang="ru-RU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Выполнил студент группы  ИС-22</a:t>
            </a:r>
            <a:r>
              <a:rPr lang="en-US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/</a:t>
            </a:r>
            <a:r>
              <a:rPr lang="ru-RU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9-П:</a:t>
            </a:r>
          </a:p>
          <a:p>
            <a:pPr algn="l">
              <a:spcBef>
                <a:spcPts val="300"/>
              </a:spcBef>
            </a:pPr>
            <a:r>
              <a:rPr lang="ru-RU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Исламов  </a:t>
            </a:r>
            <a:r>
              <a:rPr lang="ru-RU" dirty="0" err="1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Линар</a:t>
            </a:r>
            <a:endParaRPr lang="ru-RU" dirty="0" smtClean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 algn="l">
              <a:spcBef>
                <a:spcPts val="300"/>
              </a:spcBef>
            </a:pPr>
            <a:endParaRPr lang="ru-RU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 algn="l">
              <a:spcBef>
                <a:spcPts val="300"/>
              </a:spcBef>
            </a:pPr>
            <a:r>
              <a:rPr lang="ru-RU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Руководитель:</a:t>
            </a:r>
          </a:p>
          <a:p>
            <a:pPr algn="l">
              <a:spcBef>
                <a:spcPts val="300"/>
              </a:spcBef>
            </a:pPr>
            <a:r>
              <a:rPr lang="ru-RU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Безденежный Виктор Павлович</a:t>
            </a:r>
          </a:p>
          <a:p>
            <a:pPr algn="l">
              <a:spcBef>
                <a:spcPts val="300"/>
              </a:spcBef>
            </a:pPr>
            <a:endParaRPr lang="ru-RU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25" name="Рисунок 1" descr="Logo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819" y="7249"/>
            <a:ext cx="976361" cy="854316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809195" y="868814"/>
            <a:ext cx="857360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Bahnschrift SemiBol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ПЫТЬ-ЯХСКИЙ МЕЖОТРАСЛЕВОЙ КОЛЛЕДЖ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Bahnschrift SemiBol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(ФИЛИАЛ АВТОНОМНАЯ НЕКОММЕРЧЕСКАЯ ПРОФЕССИОНАЛЬНАЯ ОБРАЗОВАТЕЛЬНАЯ ОРГАНИЗАЦИЯ «СУРГУТСКИЙ ИНСТИТУТ ЭКОНОМИКИ, УПРАВЛЕНИЯ И ПРАВА»)</a:t>
            </a:r>
            <a:r>
              <a:rPr kumimoji="0" lang="ru-RU" altLang="ru-RU" sz="9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Bahnschrift SemiBold" panose="020B0502040204020203" pitchFamily="34" charset="0"/>
              </a:rPr>
              <a:t> </a:t>
            </a:r>
            <a:endParaRPr kumimoji="0" lang="ru-RU" altLang="ru-RU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9662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1253F"/>
            </a:gs>
            <a:gs pos="28000">
              <a:srgbClr val="1C1A3E"/>
            </a:gs>
            <a:gs pos="100000">
              <a:srgbClr val="945AFC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186769"/>
            <a:ext cx="9692640" cy="721504"/>
          </a:xfrm>
          <a:ln>
            <a:noFill/>
          </a:ln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Актуальность темы</a:t>
            </a:r>
            <a:endParaRPr lang="ru-RU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1" y="1450109"/>
            <a:ext cx="10034201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Почему это важно?</a:t>
            </a:r>
          </a:p>
          <a:p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Рост сложности ПО -</a:t>
            </a:r>
            <a:r>
              <a:rPr lang="en-US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&gt;</a:t>
            </a: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 рост риска ошибок.</a:t>
            </a:r>
          </a:p>
          <a:p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Ошибка = Потеря данных, остановка сервиса, угроза безопасности.</a:t>
            </a:r>
          </a:p>
          <a:p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Обработка исключений – фундамент надёжности.</a:t>
            </a:r>
            <a:endParaRPr lang="ru-RU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86295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1253F"/>
            </a:gs>
            <a:gs pos="28000">
              <a:srgbClr val="1C1A3E"/>
            </a:gs>
            <a:gs pos="100000">
              <a:srgbClr val="945AFC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397162"/>
            <a:ext cx="9692640" cy="739977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Цель и задачи работы </a:t>
            </a:r>
            <a:endParaRPr lang="ru-RU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2" y="1828800"/>
            <a:ext cx="10024964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Цель и задачи исследования: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Цель: Разработать систему обработки исключений, обеспечивающую стабильность модуля. </a:t>
            </a:r>
            <a:endParaRPr lang="ru-RU" sz="2400" dirty="0" smtClean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Задачи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: </a:t>
            </a:r>
            <a:endParaRPr lang="ru-RU" sz="2400" dirty="0" smtClean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Изучить 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теорию (понятия, классификация). </a:t>
            </a:r>
            <a:endParaRPr lang="ru-RU" sz="2400" dirty="0" smtClean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Проанализировать 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методы (языки программирования). Спроектировать архитектуру. </a:t>
            </a:r>
            <a:endParaRPr lang="ru-RU" sz="2400" dirty="0" smtClean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Реализовать 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модуль на PHP. Провести тестирование.</a:t>
            </a:r>
            <a:endParaRPr lang="ru-RU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68398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1253F"/>
            </a:gs>
            <a:gs pos="28000">
              <a:srgbClr val="1C1A3E"/>
            </a:gs>
            <a:gs pos="100000">
              <a:srgbClr val="945AFC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387926"/>
            <a:ext cx="9692640" cy="739977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Теоретические основы</a:t>
            </a:r>
            <a:endParaRPr lang="ru-RU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2" y="1450109"/>
            <a:ext cx="10015728" cy="43513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Что такое исключение? </a:t>
            </a:r>
            <a:endParaRPr lang="ru-RU" sz="2400" dirty="0" smtClean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Исключительная 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ситуация — нарушение нормального хода программы. </a:t>
            </a:r>
            <a:endParaRPr lang="ru-RU" sz="2400" dirty="0" smtClean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Причины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: </a:t>
            </a:r>
            <a:endParaRPr lang="ru-RU" sz="2400" dirty="0" smtClean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ошибки пользователя</a:t>
            </a:r>
          </a:p>
          <a:p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сбои сети </a:t>
            </a:r>
          </a:p>
          <a:p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деление 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на ноль. </a:t>
            </a:r>
            <a:endParaRPr lang="ru-RU" sz="2400" dirty="0" smtClean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Задача 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системы: </a:t>
            </a:r>
            <a:endParaRPr lang="ru-RU" sz="2400" dirty="0" smtClean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обнаружить</a:t>
            </a:r>
          </a:p>
          <a:p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обработать</a:t>
            </a:r>
          </a:p>
          <a:p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сохранить 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данные.</a:t>
            </a:r>
            <a:endParaRPr lang="ru-RU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33296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1253F"/>
            </a:gs>
            <a:gs pos="28000">
              <a:srgbClr val="1C1A3E"/>
            </a:gs>
            <a:gs pos="100000">
              <a:srgbClr val="945AFC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452581"/>
            <a:ext cx="9692640" cy="758449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Теоретические основы</a:t>
            </a:r>
            <a:endParaRPr lang="ru-RU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2" y="1828800"/>
            <a:ext cx="10015728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Принципы </a:t>
            </a: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проектирования: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Разграничение 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ответственности (каждый модуль ловит свои ошибки). </a:t>
            </a:r>
            <a:endParaRPr lang="ru-RU" sz="2400" dirty="0" smtClean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Иерархия 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исключений (создание дерева классов ошибок). </a:t>
            </a:r>
            <a:endParaRPr lang="ru-RU" sz="2400" dirty="0" smtClean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Централизованное </a:t>
            </a:r>
            <a:r>
              <a:rPr lang="ru-RU" sz="24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логирование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(запись всех сбоев в журнал). </a:t>
            </a:r>
            <a:endParaRPr lang="ru-RU" sz="2400" dirty="0" smtClean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Безопасность 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(скрытие технических деталей от пользователя).</a:t>
            </a:r>
            <a:endParaRPr lang="ru-RU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1707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1253F"/>
            </a:gs>
            <a:gs pos="28000">
              <a:srgbClr val="1C1A3E"/>
            </a:gs>
            <a:gs pos="100000">
              <a:srgbClr val="945AFC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415636"/>
            <a:ext cx="9692640" cy="776922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Архитектура практической реализации</a:t>
            </a:r>
            <a:endParaRPr lang="ru-RU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1" y="1828800"/>
            <a:ext cx="10043437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Проектирование архитектуры (PHP</a:t>
            </a: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): 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Глобальный 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обработчик: </a:t>
            </a: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перехватывает 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все необработанные ошибки. </a:t>
            </a:r>
            <a:endParaRPr lang="ru-RU" sz="2400" dirty="0" smtClean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Собственные 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классы исключений: </a:t>
            </a:r>
            <a:r>
              <a:rPr lang="ru-RU" sz="2400" dirty="0" err="1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DBException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, </a:t>
            </a:r>
            <a:r>
              <a:rPr lang="ru-RU" sz="24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ValidationException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и др. </a:t>
            </a:r>
            <a:endParaRPr lang="ru-RU" sz="2400" dirty="0" smtClean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Компонент </a:t>
            </a:r>
            <a:r>
              <a:rPr lang="ru-RU" sz="24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логирования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: запись в файл error.log с деталями. </a:t>
            </a:r>
            <a:endParaRPr lang="ru-RU" sz="2400" dirty="0" smtClean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Слой 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визуализации: вывод красивой страницы ошибки для пользователя.</a:t>
            </a:r>
            <a:endParaRPr lang="ru-RU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74609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1253F"/>
            </a:gs>
            <a:gs pos="28000">
              <a:srgbClr val="1C1A3E"/>
            </a:gs>
            <a:gs pos="100000">
              <a:srgbClr val="945AFC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397163"/>
            <a:ext cx="9692640" cy="749213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Пример реализации</a:t>
            </a:r>
            <a:endParaRPr lang="ru-RU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2" y="16131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Фрагмент кода на </a:t>
            </a:r>
            <a:r>
              <a:rPr lang="en-US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PHP</a:t>
            </a:r>
            <a:endParaRPr lang="ru-RU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2192483"/>
            <a:ext cx="8140702" cy="285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460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1253F"/>
            </a:gs>
            <a:gs pos="28000">
              <a:srgbClr val="1C1A3E"/>
            </a:gs>
            <a:gs pos="100000">
              <a:srgbClr val="945AFC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397163"/>
            <a:ext cx="9692640" cy="749213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Пользовательский интерфейс</a:t>
            </a:r>
            <a:endParaRPr lang="ru-RU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2" y="16131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Интеграция с интерфейсом:</a:t>
            </a:r>
          </a:p>
          <a:p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При ошибке пользователь видит не «белый экран», а стилизованную страницу. </a:t>
            </a:r>
            <a:endParaRPr lang="ru-RU" sz="2400" dirty="0" smtClean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Сообщение 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понятно и не пугает клиента. </a:t>
            </a:r>
            <a:endParaRPr lang="ru-RU" sz="2400" dirty="0" smtClean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Технические 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детали скрыты (безопасность).</a:t>
            </a:r>
            <a:endParaRPr lang="ru-RU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55323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1253F"/>
            </a:gs>
            <a:gs pos="28000">
              <a:srgbClr val="1C1A3E"/>
            </a:gs>
            <a:gs pos="100000">
              <a:srgbClr val="945AFC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397163"/>
            <a:ext cx="9692640" cy="749213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Заключение</a:t>
            </a:r>
            <a:endParaRPr lang="ru-RU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2" y="16131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Выводы:</a:t>
            </a:r>
          </a:p>
          <a:p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Цель работы достигнута: </a:t>
            </a:r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система 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спроектирована и реализована. </a:t>
            </a:r>
            <a:endParaRPr lang="ru-RU" sz="2400" dirty="0" smtClean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Теоретическая 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часть систематизировала знания о надёжности ПО. </a:t>
            </a:r>
            <a:endParaRPr lang="ru-RU" sz="2400" dirty="0" smtClean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Практическая 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часть создала готовый к внедрению модуль. </a:t>
            </a:r>
            <a:endParaRPr lang="ru-RU" sz="2400" dirty="0" smtClean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r>
              <a:rPr lang="ru-RU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Решение </a:t>
            </a:r>
            <a:r>
              <a:rPr lang="ru-RU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универсально и применимо в других проектах.</a:t>
            </a:r>
            <a:endParaRPr lang="ru-RU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0380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1253F"/>
            </a:gs>
            <a:gs pos="28000">
              <a:srgbClr val="1C1A3E"/>
            </a:gs>
            <a:gs pos="100000">
              <a:srgbClr val="945AFC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79112" y="655783"/>
            <a:ext cx="6552092" cy="1432704"/>
          </a:xfrm>
        </p:spPr>
        <p:txBody>
          <a:bodyPr>
            <a:norm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Спасибо за внимание!</a:t>
            </a:r>
            <a:r>
              <a:rPr lang="en-US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</a:br>
            <a:r>
              <a:rPr lang="ru-RU" sz="36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Задавайте ваши вопросы!</a:t>
            </a:r>
            <a:endParaRPr lang="ru-RU" sz="36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171" y="2257496"/>
            <a:ext cx="3609974" cy="395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288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D3C6AA"/>
      </a:dk1>
      <a:lt1>
        <a:sysClr val="window" lastClr="2D353B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311</Words>
  <Application>Microsoft Office PowerPoint</Application>
  <PresentationFormat>Широкоэкранный</PresentationFormat>
  <Paragraphs>57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Bahnschrift SemiBold</vt:lpstr>
      <vt:lpstr>Calibri</vt:lpstr>
      <vt:lpstr>Calibri Light</vt:lpstr>
      <vt:lpstr>Times New Roman</vt:lpstr>
      <vt:lpstr>Тема Office</vt:lpstr>
      <vt:lpstr>Курсовая работа на тему: «ПРОЕКТИРОВАНИЕ СИСТЕМЫ ОБРАБОТКИ ИСКЛЮЧИТЕЛЬНЫХ СИТУАЦИЙ В ПРОГРАММНОМ МОДУЛЕ»</vt:lpstr>
      <vt:lpstr>Актуальность темы</vt:lpstr>
      <vt:lpstr>Цель и задачи работы </vt:lpstr>
      <vt:lpstr>Теоретические основы</vt:lpstr>
      <vt:lpstr>Теоретические основы</vt:lpstr>
      <vt:lpstr>Архитектура практической реализации</vt:lpstr>
      <vt:lpstr>Пример реализации</vt:lpstr>
      <vt:lpstr>Пользовательский интерфейс</vt:lpstr>
      <vt:lpstr>Заключение</vt:lpstr>
      <vt:lpstr>Спасибо за внимание! Задавайте ваши вопросы!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 на тему: «ПРОЕКТИРОВАНИЕ СИСТЕМЫ ОБРАБОТКИ ИСКЛЮЧИТЕЛЬНЫХ СИТУАЦИЙ В ПРОГРАММНОМ МОДУЛЕ»</dc:title>
  <dc:creator>Fujiwara Sato</dc:creator>
  <cp:lastModifiedBy>Fujiwara Sato</cp:lastModifiedBy>
  <cp:revision>6</cp:revision>
  <dcterms:created xsi:type="dcterms:W3CDTF">2026-02-28T02:11:18Z</dcterms:created>
  <dcterms:modified xsi:type="dcterms:W3CDTF">2026-03-21T05:01:37Z</dcterms:modified>
</cp:coreProperties>
</file>