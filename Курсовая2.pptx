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359FD"/>
    <a:srgbClr val="1C1A3E"/>
    <a:srgbClr val="945AFC"/>
    <a:srgbClr val="21198F"/>
    <a:srgbClr val="392DD7"/>
    <a:srgbClr val="6A57F3"/>
    <a:srgbClr val="21253F"/>
    <a:srgbClr val="2F2B39"/>
    <a:srgbClr val="3010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984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27780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760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1891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06018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07891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2777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0535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3591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291972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38610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C0D413-4CC8-4EB6-9905-154DA0759DBD}" type="datetimeFigureOut">
              <a:rPr lang="ru-RU" smtClean="0"/>
              <a:t>28.02.2026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E9B71B-B59D-4262-BD33-08675E63742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81747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rgbClr val="21253F"/>
            </a:gs>
            <a:gs pos="65000">
              <a:srgbClr val="1C1A3E"/>
            </a:gs>
            <a:gs pos="0">
              <a:srgbClr val="B359FD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321738"/>
            <a:ext cx="9144000" cy="1274474"/>
          </a:xfrm>
        </p:spPr>
        <p:txBody>
          <a:bodyPr>
            <a:noAutofit/>
          </a:bodyPr>
          <a:lstStyle/>
          <a:p>
            <a:pPr algn="ctr"/>
            <a:r>
              <a:rPr lang="ru-RU" sz="24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Курсовая работа на тему:</a:t>
            </a:r>
            <a:br>
              <a:rPr lang="ru-RU" sz="24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</a:br>
            <a:r>
              <a:rPr lang="ru-RU" sz="24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«</a:t>
            </a:r>
            <a:r>
              <a:rPr lang="ru-RU" sz="2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ПРОЕКТИРОВАНИЕ СИСТЕМЫ ОБРАБОТКИ ИСКЛЮЧИТЕЛЬНЫХ СИТУАЦИЙ В ПРОГРАММНОМ </a:t>
            </a:r>
            <a:r>
              <a:rPr lang="ru-RU" sz="24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МОДУЛЕ»</a:t>
            </a:r>
            <a:endParaRPr lang="ru-RU" sz="12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893455" y="3971917"/>
            <a:ext cx="8866908" cy="2161027"/>
          </a:xfrm>
        </p:spPr>
        <p:txBody>
          <a:bodyPr/>
          <a:lstStyle/>
          <a:p>
            <a:pPr algn="l">
              <a:spcBef>
                <a:spcPts val="300"/>
              </a:spcBef>
            </a:pPr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Выполнил студент группы  ИС-22</a:t>
            </a:r>
            <a:r>
              <a:rPr lang="en-US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/</a:t>
            </a:r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9-П:</a:t>
            </a:r>
          </a:p>
          <a:p>
            <a:pPr algn="l">
              <a:spcBef>
                <a:spcPts val="300"/>
              </a:spcBef>
            </a:pPr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Исламов  </a:t>
            </a:r>
            <a:r>
              <a:rPr lang="ru-RU" dirty="0" err="1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Линар</a:t>
            </a:r>
            <a:endParaRPr lang="ru-RU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algn="l">
              <a:spcBef>
                <a:spcPts val="300"/>
              </a:spcBef>
            </a:pP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algn="l">
              <a:spcBef>
                <a:spcPts val="300"/>
              </a:spcBef>
            </a:pPr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Руководитель:</a:t>
            </a:r>
          </a:p>
          <a:p>
            <a:pPr algn="l">
              <a:spcBef>
                <a:spcPts val="300"/>
              </a:spcBef>
            </a:pPr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Безденежный Виктор Павлович</a:t>
            </a:r>
          </a:p>
          <a:p>
            <a:pPr algn="l">
              <a:spcBef>
                <a:spcPts val="300"/>
              </a:spcBef>
            </a:pP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12192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ru-RU"/>
          </a:p>
        </p:txBody>
      </p:sp>
      <p:pic>
        <p:nvPicPr>
          <p:cNvPr id="1025" name="Рисунок 1" descr="Logo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7819" y="7249"/>
            <a:ext cx="976361" cy="854316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1809195" y="868814"/>
            <a:ext cx="8573608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Bahnschrift SemiBold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ПЫТЬ-ЯХСКИЙ МЕЖОТРАСЛЕВОЙ КОЛЛЕДЖ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16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Bahnschrift SemiBold" panose="020B0502040204020203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(ФИЛИАЛ АВТОНОМНАЯ НЕКОММЕРЧЕСКАЯ ПРОФЕССИОНАЛЬНАЯ ОБРАЗОВАТЕЛЬНАЯ ОРГАНИЗАЦИЯ «СУРГУТСКИЙ ИНСТИТУТ ЭКОНОМИКИ, УПРАВЛЕНИЯ И ПРАВА»)</a:t>
            </a:r>
            <a:r>
              <a:rPr kumimoji="0" lang="ru-RU" altLang="ru-RU" sz="900" b="0" i="0" u="none" strike="noStrike" cap="none" normalizeH="0" baseline="0" dirty="0" smtClean="0">
                <a:ln>
                  <a:noFill/>
                </a:ln>
                <a:solidFill>
                  <a:schemeClr val="bg1"/>
                </a:solidFill>
                <a:effectLst/>
                <a:latin typeface="Bahnschrift SemiBold" panose="020B0502040204020203" pitchFamily="34" charset="0"/>
              </a:rPr>
              <a:t> </a:t>
            </a:r>
            <a:endParaRPr kumimoji="0" lang="ru-RU" altLang="ru-RU" sz="2000" b="0" i="0" u="none" strike="noStrike" cap="none" normalizeH="0" baseline="0" dirty="0" smtClean="0">
              <a:ln>
                <a:noFill/>
              </a:ln>
              <a:solidFill>
                <a:schemeClr val="bg1"/>
              </a:solidFill>
              <a:effectLst/>
              <a:latin typeface="Bahnschrift SemiBold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196621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186769"/>
            <a:ext cx="9692640" cy="721504"/>
          </a:xfrm>
          <a:ln>
            <a:noFill/>
          </a:ln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Актуальность темы</a:t>
            </a: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871" y="1450109"/>
            <a:ext cx="10034201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✅ Современные системы — сложные и многокомпонентные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✅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Даже незначительный сбой = потеря данных и критичные последствия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✅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Необходимость надёжности и устойчивости ПО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🔥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Ключевой способ решения: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ЭФФЕКТИВНАЯ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СИСТЕМА ОБРАБОТКИ ИСКЛЮЧЕНИЙ</a:t>
            </a:r>
          </a:p>
        </p:txBody>
      </p:sp>
    </p:spTree>
    <p:extLst>
      <p:ext uri="{BB962C8B-B14F-4D97-AF65-F5344CB8AC3E}">
        <p14:creationId xmlns:p14="http://schemas.microsoft.com/office/powerpoint/2010/main" val="268486295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397162"/>
            <a:ext cx="9692640" cy="739977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Объект и предмет исследования</a:t>
            </a: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872" y="1828800"/>
            <a:ext cx="10024964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📋 ОБЪЕКТ: Процесс обработки исключительных ситуаций в программных системах </a:t>
            </a:r>
            <a:endParaRPr lang="ru-RU" sz="24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endParaRPr lang="ru-RU" sz="24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4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🔍 </a:t>
            </a:r>
            <a:r>
              <a:rPr lang="ru-RU" sz="24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ПРЕДМЕТ: Методы, средства и архитектурные подходы к проектированию систем обработки исключений</a:t>
            </a:r>
          </a:p>
        </p:txBody>
      </p:sp>
    </p:spTree>
    <p:extLst>
      <p:ext uri="{BB962C8B-B14F-4D97-AF65-F5344CB8AC3E}">
        <p14:creationId xmlns:p14="http://schemas.microsoft.com/office/powerpoint/2010/main" val="211868398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387926"/>
            <a:ext cx="9692640" cy="739977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Цель работы</a:t>
            </a: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872" y="1828800"/>
            <a:ext cx="10015728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Разработать систему обработки исключительных ситуаций в программном модуле, обеспечивающую: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Стабильность работы при возникновении ошибок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Предсказуемость поведения программы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Сохранение целостности данных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Минимизацию последствий сбоев</a:t>
            </a:r>
          </a:p>
        </p:txBody>
      </p:sp>
    </p:spTree>
    <p:extLst>
      <p:ext uri="{BB962C8B-B14F-4D97-AF65-F5344CB8AC3E}">
        <p14:creationId xmlns:p14="http://schemas.microsoft.com/office/powerpoint/2010/main" val="4288332961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452581"/>
            <a:ext cx="9692640" cy="758449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Задачи для достижения цели</a:t>
            </a: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872" y="1828800"/>
            <a:ext cx="10015728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1. Исследовать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роль обработки исключений в современном </a:t>
            </a: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программировании</a:t>
            </a: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2.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Проанализировать методы и принципы проектирования исключений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3. Разработать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архитектуру модуля с механизмом обработки </a:t>
            </a: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исключений </a:t>
            </a: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4. Реализовать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программный модуль </a:t>
            </a: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5. Провести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тестирование и оценить эффективность</a:t>
            </a:r>
          </a:p>
        </p:txBody>
      </p:sp>
    </p:spTree>
    <p:extLst>
      <p:ext uri="{BB962C8B-B14F-4D97-AF65-F5344CB8AC3E}">
        <p14:creationId xmlns:p14="http://schemas.microsoft.com/office/powerpoint/2010/main" val="24981707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415636"/>
            <a:ext cx="9692640" cy="776922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Понятие исключительной ситуации</a:t>
            </a: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1261871" y="1828800"/>
            <a:ext cx="10043437" cy="4351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🚨 Особое состояние программы, при котором: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Дальнейшее выполнение алгоритма невозможно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Требуется дополнительное вмешательство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endParaRPr lang="ru-RU" sz="20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🎯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ЦЕЛЬ обработки исключений: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Своевременное обнаружение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Корректная интерпретация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Восстановление устойчивого состояния</a:t>
            </a:r>
          </a:p>
        </p:txBody>
      </p:sp>
    </p:spTree>
    <p:extLst>
      <p:ext uri="{BB962C8B-B14F-4D97-AF65-F5344CB8AC3E}">
        <p14:creationId xmlns:p14="http://schemas.microsoft.com/office/powerpoint/2010/main" val="246774609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61872" y="397163"/>
            <a:ext cx="9692640" cy="749213"/>
          </a:xfrm>
        </p:spPr>
        <p:txBody>
          <a:bodyPr/>
          <a:lstStyle/>
          <a:p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Классификация исключений</a:t>
            </a:r>
            <a:endParaRPr lang="ru-RU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📊 По источнику: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Аппаратные (сбои оборудования)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Программные (ошибки логики) </a:t>
            </a: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⚠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 критичности: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Фатальные (остановка программы)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Контролируемые (локальное устранение)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📍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 уровню: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Низкоуровневые (системные) </a:t>
            </a:r>
            <a:endParaRPr lang="ru-RU" sz="2000" dirty="0" smtClean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pPr marL="0" indent="0">
              <a:buNone/>
            </a:pPr>
            <a:r>
              <a:rPr lang="ru-RU" sz="20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• </a:t>
            </a:r>
            <a:r>
              <a:rPr lang="ru-RU" sz="20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Высокоуровневые (бизнес-логика)</a:t>
            </a:r>
          </a:p>
        </p:txBody>
      </p:sp>
    </p:spTree>
    <p:extLst>
      <p:ext uri="{BB962C8B-B14F-4D97-AF65-F5344CB8AC3E}">
        <p14:creationId xmlns:p14="http://schemas.microsoft.com/office/powerpoint/2010/main" val="151546050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21253F"/>
            </a:gs>
            <a:gs pos="28000">
              <a:srgbClr val="1C1A3E"/>
            </a:gs>
            <a:gs pos="100000">
              <a:srgbClr val="945AFC"/>
            </a:gs>
          </a:gsLst>
          <a:lin ang="7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779112" y="655783"/>
            <a:ext cx="6552092" cy="1432704"/>
          </a:xfrm>
        </p:spPr>
        <p:txBody>
          <a:bodyPr>
            <a:normAutofit/>
          </a:bodyPr>
          <a:lstStyle/>
          <a:p>
            <a:pPr algn="ctr"/>
            <a:r>
              <a:rPr lang="ru-RU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Спасибо за внимание!</a:t>
            </a:r>
            <a:r>
              <a:rPr lang="en-US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/>
            </a:r>
            <a:br>
              <a:rPr lang="en-US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</a:br>
            <a:r>
              <a:rPr lang="ru-RU" sz="3600" dirty="0" smtClean="0">
                <a:solidFill>
                  <a:schemeClr val="bg1"/>
                </a:solidFill>
                <a:latin typeface="Bahnschrift SemiBold" panose="020B0502040204020203" pitchFamily="34" charset="0"/>
              </a:rPr>
              <a:t>Задавайте ваши вопросы!</a:t>
            </a:r>
            <a:endParaRPr lang="ru-RU" sz="36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0171" y="2257496"/>
            <a:ext cx="3609974" cy="395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8228819"/>
      </p:ext>
    </p:extLst>
  </p:cSld>
  <p:clrMapOvr>
    <a:masterClrMapping/>
  </p:clrMapOvr>
  <p:transition spd="slow">
    <p:wipe/>
  </p:transition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D3C6AA"/>
      </a:dk1>
      <a:lt1>
        <a:sysClr val="window" lastClr="2D353B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</TotalTime>
  <Words>260</Words>
  <Application>Microsoft Office PowerPoint</Application>
  <PresentationFormat>Широкоэкранный</PresentationFormat>
  <Paragraphs>51</Paragraphs>
  <Slides>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4" baseType="lpstr">
      <vt:lpstr>Arial</vt:lpstr>
      <vt:lpstr>Bahnschrift SemiBold</vt:lpstr>
      <vt:lpstr>Calibri</vt:lpstr>
      <vt:lpstr>Calibri Light</vt:lpstr>
      <vt:lpstr>Times New Roman</vt:lpstr>
      <vt:lpstr>Тема Office</vt:lpstr>
      <vt:lpstr>Курсовая работа на тему: «ПРОЕКТИРОВАНИЕ СИСТЕМЫ ОБРАБОТКИ ИСКЛЮЧИТЕЛЬНЫХ СИТУАЦИЙ В ПРОГРАММНОМ МОДУЛЕ»</vt:lpstr>
      <vt:lpstr>Актуальность темы</vt:lpstr>
      <vt:lpstr>Объект и предмет исследования</vt:lpstr>
      <vt:lpstr>Цель работы</vt:lpstr>
      <vt:lpstr>Задачи для достижения цели</vt:lpstr>
      <vt:lpstr>Понятие исключительной ситуации</vt:lpstr>
      <vt:lpstr>Классификация исключений</vt:lpstr>
      <vt:lpstr>Спасибо за внимание! Задавайте ваши вопросы!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Курсовая работа на тему: «ПРОЕКТИРОВАНИЕ СИСТЕМЫ ОБРАБОТКИ ИСКЛЮЧИТЕЛЬНЫХ СИТУАЦИЙ В ПРОГРАММНОМ МОДУЛЕ»</dc:title>
  <dc:creator>Fujiwara Sato</dc:creator>
  <cp:lastModifiedBy>Fujiwara Sato</cp:lastModifiedBy>
  <cp:revision>4</cp:revision>
  <dcterms:created xsi:type="dcterms:W3CDTF">2026-02-28T02:11:18Z</dcterms:created>
  <dcterms:modified xsi:type="dcterms:W3CDTF">2026-02-28T02:45:43Z</dcterms:modified>
</cp:coreProperties>
</file>